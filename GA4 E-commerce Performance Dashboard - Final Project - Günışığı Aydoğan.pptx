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Play"/>
      <p:regular r:id="rId28"/>
      <p:bold r:id="rId29"/>
    </p:embeddedFont>
    <p:embeddedFont>
      <p:font typeface="Roboto Thin"/>
      <p:regular r:id="rId30"/>
      <p:bold r:id="rId31"/>
      <p:italic r:id="rId32"/>
      <p:boldItalic r:id="rId33"/>
    </p:embeddedFont>
    <p:embeddedFont>
      <p:font typeface="Roboto"/>
      <p:regular r:id="rId34"/>
      <p:bold r:id="rId35"/>
      <p:italic r:id="rId36"/>
      <p:boldItalic r:id="rId37"/>
    </p:embeddedFont>
    <p:embeddedFont>
      <p:font typeface="Roboto Medium"/>
      <p:regular r:id="rId38"/>
      <p:bold r:id="rId39"/>
      <p:italic r:id="rId40"/>
      <p:boldItalic r:id="rId41"/>
    </p:embeddedFont>
    <p:embeddedFont>
      <p:font typeface="Nunito"/>
      <p:regular r:id="rId42"/>
      <p:bold r:id="rId43"/>
      <p:italic r:id="rId44"/>
      <p:boldItalic r:id="rId45"/>
    </p:embeddedFont>
    <p:embeddedFont>
      <p:font typeface="Maven Pro"/>
      <p:regular r:id="rId46"/>
      <p:bold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italic.fntdata"/><Relationship Id="rId42" Type="http://schemas.openxmlformats.org/officeDocument/2006/relationships/font" Target="fonts/Nunito-regular.fntdata"/><Relationship Id="rId41" Type="http://schemas.openxmlformats.org/officeDocument/2006/relationships/font" Target="fonts/RobotoMedium-boldItalic.fntdata"/><Relationship Id="rId44" Type="http://schemas.openxmlformats.org/officeDocument/2006/relationships/font" Target="fonts/Nunito-italic.fntdata"/><Relationship Id="rId43" Type="http://schemas.openxmlformats.org/officeDocument/2006/relationships/font" Target="fonts/Nunito-bold.fntdata"/><Relationship Id="rId46" Type="http://schemas.openxmlformats.org/officeDocument/2006/relationships/font" Target="fonts/MavenPro-regular.fntdata"/><Relationship Id="rId45"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regular.fntdata"/><Relationship Id="rId47" Type="http://schemas.openxmlformats.org/officeDocument/2006/relationships/font" Target="fonts/MavenPro-bold.fntdata"/><Relationship Id="rId49"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Thin-bold.fntdata"/><Relationship Id="rId30" Type="http://schemas.openxmlformats.org/officeDocument/2006/relationships/font" Target="fonts/RobotoThin-regular.fntdata"/><Relationship Id="rId33" Type="http://schemas.openxmlformats.org/officeDocument/2006/relationships/font" Target="fonts/RobotoThin-boldItalic.fntdata"/><Relationship Id="rId32" Type="http://schemas.openxmlformats.org/officeDocument/2006/relationships/font" Target="fonts/RobotoThin-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RobotoMedium-bold.fntdata"/><Relationship Id="rId38" Type="http://schemas.openxmlformats.org/officeDocument/2006/relationships/font" Target="fonts/RobotoMedium-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regular.fntdata"/><Relationship Id="rId27" Type="http://schemas.openxmlformats.org/officeDocument/2006/relationships/slide" Target="slides/slide22.xml"/><Relationship Id="rId29" Type="http://schemas.openxmlformats.org/officeDocument/2006/relationships/font" Target="fonts/Play-bold.fntdata"/><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512e80e0c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512e80e0c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512e80e0c_0_1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512e80e0c_0_1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d219dbea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d219dbea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d219dbea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d219dbea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d219dbea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d219dbea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d219dbea5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d219dbea5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ed219dbea5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ed219dbea5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ed219dbea5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ed219dbea5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ed219dbea5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ed219dbea5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d219dbea5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ed219dbea5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d219dbea5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ed219dbea5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d219dbea5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ed219dbea5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d219dbea5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ed219dbea5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ed219dbea5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ed219dbea5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ed219dbea5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ed219dbea5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d219dbea5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d219dbea5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d219dbea5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d219dbea5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d219dbea5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ed219dbea5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d219dbea5_0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ed219dbea5_0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d219dbea5_0_3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d219dbea5_0_3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d219dbea5_0_3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d219dbea5_0_3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10" Type="http://schemas.openxmlformats.org/officeDocument/2006/relationships/slide" Target="/ppt/slides/slide21.xml"/><Relationship Id="rId9" Type="http://schemas.openxmlformats.org/officeDocument/2006/relationships/slide" Target="/ppt/slides/slide20.xml"/><Relationship Id="rId5" Type="http://schemas.openxmlformats.org/officeDocument/2006/relationships/slide" Target="/ppt/slides/slide10.xml"/><Relationship Id="rId6"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225450" y="319700"/>
            <a:ext cx="5507400" cy="11742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lt1"/>
              </a:buClr>
              <a:buSzPct val="100000"/>
              <a:buFont typeface="Play"/>
              <a:buNone/>
            </a:pPr>
            <a:r>
              <a:rPr lang="en-GB" sz="4000">
                <a:latin typeface="Play"/>
                <a:ea typeface="Play"/>
                <a:cs typeface="Play"/>
                <a:sym typeface="Play"/>
              </a:rPr>
              <a:t>GA4 E-commerce</a:t>
            </a:r>
            <a:endParaRPr b="0" sz="4000">
              <a:solidFill>
                <a:srgbClr val="000000"/>
              </a:solidFill>
              <a:latin typeface="Arial"/>
              <a:ea typeface="Arial"/>
              <a:cs typeface="Arial"/>
              <a:sym typeface="Arial"/>
            </a:endParaRPr>
          </a:p>
          <a:p>
            <a:pPr indent="0" lvl="0" marL="0" rtl="0" algn="l">
              <a:spcBef>
                <a:spcPts val="0"/>
              </a:spcBef>
              <a:spcAft>
                <a:spcPts val="0"/>
              </a:spcAft>
              <a:buClr>
                <a:schemeClr val="lt1"/>
              </a:buClr>
              <a:buSzPct val="100000"/>
              <a:buFont typeface="Play"/>
              <a:buNone/>
            </a:pPr>
            <a:r>
              <a:rPr lang="en-GB" sz="4000">
                <a:latin typeface="Play"/>
                <a:ea typeface="Play"/>
                <a:cs typeface="Play"/>
                <a:sym typeface="Play"/>
              </a:rPr>
              <a:t>Performance Dashboard</a:t>
            </a:r>
            <a:endParaRPr sz="3000"/>
          </a:p>
        </p:txBody>
      </p:sp>
      <p:sp>
        <p:nvSpPr>
          <p:cNvPr id="278" name="Google Shape;278;p13"/>
          <p:cNvSpPr txBox="1"/>
          <p:nvPr>
            <p:ph idx="1" type="subTitle"/>
          </p:nvPr>
        </p:nvSpPr>
        <p:spPr>
          <a:xfrm>
            <a:off x="1248450" y="2866900"/>
            <a:ext cx="4255500" cy="6954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Clr>
                <a:srgbClr val="C7D1E0"/>
              </a:buClr>
              <a:buSzPct val="100000"/>
              <a:buFont typeface="Arial"/>
              <a:buNone/>
            </a:pPr>
            <a:r>
              <a:rPr lang="en-GB" sz="1800">
                <a:solidFill>
                  <a:srgbClr val="C7D1E0"/>
                </a:solidFill>
                <a:latin typeface="Arial"/>
                <a:ea typeface="Arial"/>
                <a:cs typeface="Arial"/>
                <a:sym typeface="Arial"/>
              </a:rPr>
              <a:t>Looker Studio dashboard built with SQL-transformed GA4 BigQuery ecommerce data.</a:t>
            </a:r>
            <a:endParaRPr/>
          </a:p>
        </p:txBody>
      </p:sp>
      <p:sp>
        <p:nvSpPr>
          <p:cNvPr id="279" name="Google Shape;279;p13"/>
          <p:cNvSpPr txBox="1"/>
          <p:nvPr>
            <p:ph idx="1" type="subTitle"/>
          </p:nvPr>
        </p:nvSpPr>
        <p:spPr>
          <a:xfrm>
            <a:off x="3466650" y="3633613"/>
            <a:ext cx="2527200" cy="6954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n-GB" sz="3750"/>
              <a:t>Günışığı Aydoğan</a:t>
            </a:r>
            <a:endParaRPr sz="3750"/>
          </a:p>
          <a:p>
            <a:pPr indent="0" lvl="0" marL="0" rtl="0" algn="l">
              <a:spcBef>
                <a:spcPts val="0"/>
              </a:spcBef>
              <a:spcAft>
                <a:spcPts val="0"/>
              </a:spcAft>
              <a:buNone/>
            </a:pPr>
            <a:r>
              <a:t/>
            </a:r>
            <a:endParaRPr b="1" sz="3000">
              <a:latin typeface="Maven Pro"/>
              <a:ea typeface="Maven Pro"/>
              <a:cs typeface="Maven Pro"/>
              <a:sym typeface="Maven Pro"/>
            </a:endParaRPr>
          </a:p>
          <a:p>
            <a:pPr indent="0" lvl="0" marL="0" rtl="0" algn="l">
              <a:spcBef>
                <a:spcPts val="0"/>
              </a:spcBef>
              <a:spcAft>
                <a:spcPts val="0"/>
              </a:spcAft>
              <a:buNone/>
            </a:pPr>
            <a:r>
              <a:t/>
            </a:r>
            <a:endParaRPr/>
          </a:p>
        </p:txBody>
      </p:sp>
      <p:sp>
        <p:nvSpPr>
          <p:cNvPr id="280" name="Google Shape;280;p13"/>
          <p:cNvSpPr txBox="1"/>
          <p:nvPr>
            <p:ph type="ctrTitle"/>
          </p:nvPr>
        </p:nvSpPr>
        <p:spPr>
          <a:xfrm>
            <a:off x="225450" y="1615213"/>
            <a:ext cx="5278500" cy="695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3000"/>
              <a:t>Graduation Project for GoIT</a:t>
            </a:r>
            <a:endParaRPr sz="3000"/>
          </a:p>
        </p:txBody>
      </p:sp>
      <p:sp>
        <p:nvSpPr>
          <p:cNvPr id="281" name="Google Shape;281;p13"/>
          <p:cNvSpPr txBox="1"/>
          <p:nvPr>
            <p:ph idx="1" type="subTitle"/>
          </p:nvPr>
        </p:nvSpPr>
        <p:spPr>
          <a:xfrm>
            <a:off x="367825" y="4400325"/>
            <a:ext cx="4255500" cy="562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rgbClr val="B5C2D3"/>
              </a:buClr>
              <a:buSzPts val="1250"/>
              <a:buFont typeface="Arial"/>
              <a:buNone/>
            </a:pPr>
            <a:r>
              <a:rPr b="1" lang="en-GB" sz="950">
                <a:solidFill>
                  <a:srgbClr val="B5C2D3"/>
                </a:solidFill>
                <a:latin typeface="Arial"/>
                <a:ea typeface="Arial"/>
                <a:cs typeface="Arial"/>
                <a:sym typeface="Arial"/>
              </a:rPr>
              <a:t>BigQuery  →  SQL Views  →  Looker Studio</a:t>
            </a:r>
            <a:endParaRPr sz="95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C7D1E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p14"/>
          <p:cNvSpPr txBox="1"/>
          <p:nvPr>
            <p:ph type="title"/>
          </p:nvPr>
        </p:nvSpPr>
        <p:spPr>
          <a:xfrm>
            <a:off x="1246425" y="1854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accent1"/>
                </a:solidFill>
              </a:rPr>
              <a:t>Table of Contents</a:t>
            </a:r>
            <a:endParaRPr>
              <a:solidFill>
                <a:schemeClr val="accent1"/>
              </a:solidFill>
            </a:endParaRPr>
          </a:p>
        </p:txBody>
      </p:sp>
      <p:grpSp>
        <p:nvGrpSpPr>
          <p:cNvPr id="287" name="Google Shape;287;p14"/>
          <p:cNvGrpSpPr/>
          <p:nvPr/>
        </p:nvGrpSpPr>
        <p:grpSpPr>
          <a:xfrm>
            <a:off x="1189562" y="1051519"/>
            <a:ext cx="2300440" cy="1980038"/>
            <a:chOff x="363524" y="1258050"/>
            <a:chExt cx="2726286" cy="2547000"/>
          </a:xfrm>
        </p:grpSpPr>
        <p:sp>
          <p:nvSpPr>
            <p:cNvPr id="288" name="Google Shape;288;p14"/>
            <p:cNvSpPr/>
            <p:nvPr/>
          </p:nvSpPr>
          <p:spPr>
            <a:xfrm rot="2700000">
              <a:off x="1356161"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289" name="Google Shape;289;p14"/>
            <p:cNvSpPr/>
            <p:nvPr/>
          </p:nvSpPr>
          <p:spPr>
            <a:xfrm>
              <a:off x="580539"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55B55"/>
                  </a:solidFill>
                  <a:latin typeface="Roboto"/>
                  <a:ea typeface="Roboto"/>
                  <a:cs typeface="Roboto"/>
                  <a:sym typeface="Roboto"/>
                </a:rPr>
                <a:t>1</a:t>
              </a:r>
              <a:endParaRPr b="1" sz="933">
                <a:solidFill>
                  <a:srgbClr val="155B55"/>
                </a:solidFill>
                <a:latin typeface="Roboto"/>
                <a:ea typeface="Roboto"/>
                <a:cs typeface="Roboto"/>
                <a:sym typeface="Roboto"/>
              </a:endParaRPr>
            </a:p>
          </p:txBody>
        </p:sp>
        <p:sp>
          <p:nvSpPr>
            <p:cNvPr id="290" name="Google Shape;290;p14"/>
            <p:cNvSpPr txBox="1"/>
            <p:nvPr/>
          </p:nvSpPr>
          <p:spPr>
            <a:xfrm rot="-2700000">
              <a:off x="567889" y="2239754"/>
              <a:ext cx="2336422"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3"/>
                </a:rPr>
                <a:t>Project Objective</a:t>
              </a:r>
              <a:endParaRPr b="1" sz="1200">
                <a:solidFill>
                  <a:srgbClr val="FFFFFF"/>
                </a:solidFill>
                <a:latin typeface="Roboto"/>
                <a:ea typeface="Roboto"/>
                <a:cs typeface="Roboto"/>
                <a:sym typeface="Roboto"/>
              </a:endParaRPr>
            </a:p>
          </p:txBody>
        </p:sp>
        <p:sp>
          <p:nvSpPr>
            <p:cNvPr id="291" name="Google Shape;291;p14"/>
            <p:cNvSpPr txBox="1"/>
            <p:nvPr/>
          </p:nvSpPr>
          <p:spPr>
            <a:xfrm rot="-2700000">
              <a:off x="1029496"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3</a:t>
              </a:r>
              <a:endParaRPr b="1" sz="822">
                <a:latin typeface="Roboto"/>
                <a:ea typeface="Roboto"/>
                <a:cs typeface="Roboto"/>
                <a:sym typeface="Roboto"/>
              </a:endParaRPr>
            </a:p>
          </p:txBody>
        </p:sp>
      </p:grpSp>
      <p:grpSp>
        <p:nvGrpSpPr>
          <p:cNvPr id="292" name="Google Shape;292;p14"/>
          <p:cNvGrpSpPr/>
          <p:nvPr/>
        </p:nvGrpSpPr>
        <p:grpSpPr>
          <a:xfrm>
            <a:off x="2801408" y="1051519"/>
            <a:ext cx="2300440" cy="1980038"/>
            <a:chOff x="2273746" y="1258050"/>
            <a:chExt cx="2726286" cy="2547000"/>
          </a:xfrm>
        </p:grpSpPr>
        <p:sp>
          <p:nvSpPr>
            <p:cNvPr id="293" name="Google Shape;293;p14"/>
            <p:cNvSpPr/>
            <p:nvPr/>
          </p:nvSpPr>
          <p:spPr>
            <a:xfrm rot="2700000">
              <a:off x="3266383"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294" name="Google Shape;294;p14"/>
            <p:cNvSpPr/>
            <p:nvPr/>
          </p:nvSpPr>
          <p:spPr>
            <a:xfrm>
              <a:off x="2490761"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B786F"/>
                  </a:solidFill>
                  <a:latin typeface="Roboto"/>
                  <a:ea typeface="Roboto"/>
                  <a:cs typeface="Roboto"/>
                  <a:sym typeface="Roboto"/>
                </a:rPr>
                <a:t>2</a:t>
              </a:r>
              <a:endParaRPr b="1" sz="933">
                <a:solidFill>
                  <a:srgbClr val="1B786F"/>
                </a:solidFill>
                <a:latin typeface="Roboto"/>
                <a:ea typeface="Roboto"/>
                <a:cs typeface="Roboto"/>
                <a:sym typeface="Roboto"/>
              </a:endParaRPr>
            </a:p>
          </p:txBody>
        </p:sp>
        <p:sp>
          <p:nvSpPr>
            <p:cNvPr id="295" name="Google Shape;295;p14"/>
            <p:cNvSpPr txBox="1"/>
            <p:nvPr/>
          </p:nvSpPr>
          <p:spPr>
            <a:xfrm rot="-2700000">
              <a:off x="2473968" y="2237954"/>
              <a:ext cx="2341513"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4"/>
                </a:rPr>
                <a:t>Technical Tasks</a:t>
              </a:r>
              <a:endParaRPr b="1" sz="1200">
                <a:solidFill>
                  <a:srgbClr val="FFFFFF"/>
                </a:solidFill>
                <a:latin typeface="Roboto"/>
                <a:ea typeface="Roboto"/>
                <a:cs typeface="Roboto"/>
                <a:sym typeface="Roboto"/>
              </a:endParaRPr>
            </a:p>
          </p:txBody>
        </p:sp>
        <p:sp>
          <p:nvSpPr>
            <p:cNvPr id="296" name="Google Shape;296;p14"/>
            <p:cNvSpPr txBox="1"/>
            <p:nvPr/>
          </p:nvSpPr>
          <p:spPr>
            <a:xfrm rot="-2700000">
              <a:off x="2939718"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4, Page 5, Page 6, Page 7, Page 8, Page 9</a:t>
              </a:r>
              <a:endParaRPr sz="822">
                <a:latin typeface="Roboto"/>
                <a:ea typeface="Roboto"/>
                <a:cs typeface="Roboto"/>
                <a:sym typeface="Roboto"/>
              </a:endParaRPr>
            </a:p>
          </p:txBody>
        </p:sp>
      </p:grpSp>
      <p:grpSp>
        <p:nvGrpSpPr>
          <p:cNvPr id="297" name="Google Shape;297;p14"/>
          <p:cNvGrpSpPr/>
          <p:nvPr/>
        </p:nvGrpSpPr>
        <p:grpSpPr>
          <a:xfrm>
            <a:off x="4421519" y="1051519"/>
            <a:ext cx="2300440" cy="1980038"/>
            <a:chOff x="4193764" y="1258050"/>
            <a:chExt cx="2726286" cy="2547000"/>
          </a:xfrm>
        </p:grpSpPr>
        <p:sp>
          <p:nvSpPr>
            <p:cNvPr id="298" name="Google Shape;298;p14"/>
            <p:cNvSpPr/>
            <p:nvPr/>
          </p:nvSpPr>
          <p:spPr>
            <a:xfrm rot="2700000">
              <a:off x="5186401"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299" name="Google Shape;299;p14"/>
            <p:cNvSpPr/>
            <p:nvPr/>
          </p:nvSpPr>
          <p:spPr>
            <a:xfrm>
              <a:off x="4410780"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D7E75"/>
                  </a:solidFill>
                  <a:latin typeface="Roboto"/>
                  <a:ea typeface="Roboto"/>
                  <a:cs typeface="Roboto"/>
                  <a:sym typeface="Roboto"/>
                </a:rPr>
                <a:t>3</a:t>
              </a:r>
              <a:endParaRPr b="1" sz="933">
                <a:solidFill>
                  <a:srgbClr val="1D7E75"/>
                </a:solidFill>
                <a:latin typeface="Roboto"/>
                <a:ea typeface="Roboto"/>
                <a:cs typeface="Roboto"/>
                <a:sym typeface="Roboto"/>
              </a:endParaRPr>
            </a:p>
          </p:txBody>
        </p:sp>
        <p:sp>
          <p:nvSpPr>
            <p:cNvPr id="300" name="Google Shape;300;p14"/>
            <p:cNvSpPr txBox="1"/>
            <p:nvPr/>
          </p:nvSpPr>
          <p:spPr>
            <a:xfrm rot="-2700000">
              <a:off x="4400124" y="2240504"/>
              <a:ext cx="2334301"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5"/>
                </a:rPr>
                <a:t>Looker Studio Dashboard Overview</a:t>
              </a:r>
              <a:endParaRPr b="1" sz="1200">
                <a:solidFill>
                  <a:srgbClr val="FFFFFF"/>
                </a:solidFill>
                <a:latin typeface="Roboto"/>
                <a:ea typeface="Roboto"/>
                <a:cs typeface="Roboto"/>
                <a:sym typeface="Roboto"/>
              </a:endParaRPr>
            </a:p>
          </p:txBody>
        </p:sp>
        <p:sp>
          <p:nvSpPr>
            <p:cNvPr id="301" name="Google Shape;301;p14"/>
            <p:cNvSpPr txBox="1"/>
            <p:nvPr/>
          </p:nvSpPr>
          <p:spPr>
            <a:xfrm rot="-2700000">
              <a:off x="4859736"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10, Page, 11</a:t>
              </a:r>
              <a:endParaRPr b="1" sz="822">
                <a:latin typeface="Roboto"/>
                <a:ea typeface="Roboto"/>
                <a:cs typeface="Roboto"/>
                <a:sym typeface="Roboto"/>
              </a:endParaRPr>
            </a:p>
          </p:txBody>
        </p:sp>
      </p:grpSp>
      <p:grpSp>
        <p:nvGrpSpPr>
          <p:cNvPr id="302" name="Google Shape;302;p14"/>
          <p:cNvGrpSpPr/>
          <p:nvPr/>
        </p:nvGrpSpPr>
        <p:grpSpPr>
          <a:xfrm>
            <a:off x="6033364" y="1051519"/>
            <a:ext cx="2300440" cy="1980038"/>
            <a:chOff x="6103986" y="1258050"/>
            <a:chExt cx="2726286" cy="2547000"/>
          </a:xfrm>
        </p:grpSpPr>
        <p:sp>
          <p:nvSpPr>
            <p:cNvPr id="303" name="Google Shape;303;p14"/>
            <p:cNvSpPr/>
            <p:nvPr/>
          </p:nvSpPr>
          <p:spPr>
            <a:xfrm rot="2700000">
              <a:off x="7096623"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304" name="Google Shape;304;p14"/>
            <p:cNvSpPr/>
            <p:nvPr/>
          </p:nvSpPr>
          <p:spPr>
            <a:xfrm>
              <a:off x="6321002"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l">
                <a:spcBef>
                  <a:spcPts val="0"/>
                </a:spcBef>
                <a:spcAft>
                  <a:spcPts val="0"/>
                </a:spcAft>
                <a:buNone/>
              </a:pPr>
              <a:r>
                <a:rPr b="1" lang="en-GB" sz="933">
                  <a:solidFill>
                    <a:srgbClr val="1F887E"/>
                  </a:solidFill>
                  <a:latin typeface="Roboto"/>
                  <a:ea typeface="Roboto"/>
                  <a:cs typeface="Roboto"/>
                  <a:sym typeface="Roboto"/>
                </a:rPr>
                <a:t>4</a:t>
              </a:r>
              <a:endParaRPr b="1" sz="933">
                <a:solidFill>
                  <a:srgbClr val="1F887E"/>
                </a:solidFill>
                <a:latin typeface="Roboto"/>
                <a:ea typeface="Roboto"/>
                <a:cs typeface="Roboto"/>
                <a:sym typeface="Roboto"/>
              </a:endParaRPr>
            </a:p>
          </p:txBody>
        </p:sp>
        <p:sp>
          <p:nvSpPr>
            <p:cNvPr id="305" name="Google Shape;305;p14"/>
            <p:cNvSpPr txBox="1"/>
            <p:nvPr/>
          </p:nvSpPr>
          <p:spPr>
            <a:xfrm rot="-2700000">
              <a:off x="6306241" y="2238854"/>
              <a:ext cx="2338968"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6"/>
                </a:rPr>
                <a:t>Key Performance Indicators</a:t>
              </a:r>
              <a:endParaRPr b="1" sz="1200">
                <a:solidFill>
                  <a:srgbClr val="FFFFFF"/>
                </a:solidFill>
                <a:latin typeface="Roboto"/>
                <a:ea typeface="Roboto"/>
                <a:cs typeface="Roboto"/>
                <a:sym typeface="Roboto"/>
              </a:endParaRPr>
            </a:p>
          </p:txBody>
        </p:sp>
        <p:sp>
          <p:nvSpPr>
            <p:cNvPr id="306" name="Google Shape;306;p14"/>
            <p:cNvSpPr txBox="1"/>
            <p:nvPr/>
          </p:nvSpPr>
          <p:spPr>
            <a:xfrm rot="-2700000">
              <a:off x="6769958"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b="1" lang="en-GB" sz="822">
                  <a:latin typeface="Roboto"/>
                  <a:ea typeface="Roboto"/>
                  <a:cs typeface="Roboto"/>
                  <a:sym typeface="Roboto"/>
                </a:rPr>
                <a:t>Page 12</a:t>
              </a:r>
              <a:endParaRPr b="1" sz="822">
                <a:latin typeface="Roboto"/>
                <a:ea typeface="Roboto"/>
                <a:cs typeface="Roboto"/>
                <a:sym typeface="Roboto"/>
              </a:endParaRPr>
            </a:p>
          </p:txBody>
        </p:sp>
      </p:grpSp>
      <p:grpSp>
        <p:nvGrpSpPr>
          <p:cNvPr id="307" name="Google Shape;307;p14"/>
          <p:cNvGrpSpPr/>
          <p:nvPr/>
        </p:nvGrpSpPr>
        <p:grpSpPr>
          <a:xfrm>
            <a:off x="1246437" y="3163469"/>
            <a:ext cx="2300440" cy="1980038"/>
            <a:chOff x="363524" y="1258050"/>
            <a:chExt cx="2726286" cy="2547000"/>
          </a:xfrm>
        </p:grpSpPr>
        <p:sp>
          <p:nvSpPr>
            <p:cNvPr id="308" name="Google Shape;308;p14"/>
            <p:cNvSpPr/>
            <p:nvPr/>
          </p:nvSpPr>
          <p:spPr>
            <a:xfrm rot="2700000">
              <a:off x="1356161"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309" name="Google Shape;309;p14"/>
            <p:cNvSpPr/>
            <p:nvPr/>
          </p:nvSpPr>
          <p:spPr>
            <a:xfrm>
              <a:off x="580539"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55B55"/>
                  </a:solidFill>
                  <a:latin typeface="Roboto"/>
                  <a:ea typeface="Roboto"/>
                  <a:cs typeface="Roboto"/>
                  <a:sym typeface="Roboto"/>
                </a:rPr>
                <a:t>1</a:t>
              </a:r>
              <a:endParaRPr b="1" sz="933">
                <a:solidFill>
                  <a:srgbClr val="155B55"/>
                </a:solidFill>
                <a:latin typeface="Roboto"/>
                <a:ea typeface="Roboto"/>
                <a:cs typeface="Roboto"/>
                <a:sym typeface="Roboto"/>
              </a:endParaRPr>
            </a:p>
          </p:txBody>
        </p:sp>
        <p:sp>
          <p:nvSpPr>
            <p:cNvPr id="310" name="Google Shape;310;p14"/>
            <p:cNvSpPr txBox="1"/>
            <p:nvPr/>
          </p:nvSpPr>
          <p:spPr>
            <a:xfrm rot="-2700000">
              <a:off x="567889" y="2239754"/>
              <a:ext cx="2336422"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7"/>
                </a:rPr>
                <a:t>Dashboard Charts</a:t>
              </a:r>
              <a:endParaRPr b="1" sz="1200">
                <a:solidFill>
                  <a:srgbClr val="FFFFFF"/>
                </a:solidFill>
                <a:latin typeface="Roboto"/>
                <a:ea typeface="Roboto"/>
                <a:cs typeface="Roboto"/>
                <a:sym typeface="Roboto"/>
              </a:endParaRPr>
            </a:p>
          </p:txBody>
        </p:sp>
        <p:sp>
          <p:nvSpPr>
            <p:cNvPr id="311" name="Google Shape;311;p14"/>
            <p:cNvSpPr txBox="1"/>
            <p:nvPr/>
          </p:nvSpPr>
          <p:spPr>
            <a:xfrm rot="-2700000">
              <a:off x="1029496"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13, Page 14, Page 15, Page 16, Page 17, Page 18</a:t>
              </a:r>
              <a:endParaRPr b="1" sz="822">
                <a:latin typeface="Roboto"/>
                <a:ea typeface="Roboto"/>
                <a:cs typeface="Roboto"/>
                <a:sym typeface="Roboto"/>
              </a:endParaRPr>
            </a:p>
          </p:txBody>
        </p:sp>
      </p:grpSp>
      <p:grpSp>
        <p:nvGrpSpPr>
          <p:cNvPr id="312" name="Google Shape;312;p14"/>
          <p:cNvGrpSpPr/>
          <p:nvPr/>
        </p:nvGrpSpPr>
        <p:grpSpPr>
          <a:xfrm>
            <a:off x="2858283" y="3163469"/>
            <a:ext cx="2300440" cy="1980038"/>
            <a:chOff x="2273746" y="1258050"/>
            <a:chExt cx="2726286" cy="2547000"/>
          </a:xfrm>
        </p:grpSpPr>
        <p:sp>
          <p:nvSpPr>
            <p:cNvPr id="313" name="Google Shape;313;p14"/>
            <p:cNvSpPr/>
            <p:nvPr/>
          </p:nvSpPr>
          <p:spPr>
            <a:xfrm rot="2700000">
              <a:off x="3266383"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314" name="Google Shape;314;p14"/>
            <p:cNvSpPr/>
            <p:nvPr/>
          </p:nvSpPr>
          <p:spPr>
            <a:xfrm>
              <a:off x="2490761"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B786F"/>
                  </a:solidFill>
                  <a:latin typeface="Roboto"/>
                  <a:ea typeface="Roboto"/>
                  <a:cs typeface="Roboto"/>
                  <a:sym typeface="Roboto"/>
                </a:rPr>
                <a:t>2</a:t>
              </a:r>
              <a:endParaRPr b="1" sz="933">
                <a:solidFill>
                  <a:srgbClr val="1B786F"/>
                </a:solidFill>
                <a:latin typeface="Roboto"/>
                <a:ea typeface="Roboto"/>
                <a:cs typeface="Roboto"/>
                <a:sym typeface="Roboto"/>
              </a:endParaRPr>
            </a:p>
          </p:txBody>
        </p:sp>
        <p:sp>
          <p:nvSpPr>
            <p:cNvPr id="315" name="Google Shape;315;p14"/>
            <p:cNvSpPr txBox="1"/>
            <p:nvPr/>
          </p:nvSpPr>
          <p:spPr>
            <a:xfrm rot="-2700000">
              <a:off x="2473968" y="2237954"/>
              <a:ext cx="2341513"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8"/>
                </a:rPr>
                <a:t>Interactive Dashboard Filters</a:t>
              </a:r>
              <a:endParaRPr b="1" sz="1200">
                <a:solidFill>
                  <a:srgbClr val="FFFFFF"/>
                </a:solidFill>
                <a:latin typeface="Roboto"/>
                <a:ea typeface="Roboto"/>
                <a:cs typeface="Roboto"/>
                <a:sym typeface="Roboto"/>
              </a:endParaRPr>
            </a:p>
          </p:txBody>
        </p:sp>
        <p:sp>
          <p:nvSpPr>
            <p:cNvPr id="316" name="Google Shape;316;p14"/>
            <p:cNvSpPr txBox="1"/>
            <p:nvPr/>
          </p:nvSpPr>
          <p:spPr>
            <a:xfrm rot="-2700000">
              <a:off x="2939718"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19</a:t>
              </a:r>
              <a:endParaRPr sz="822">
                <a:latin typeface="Roboto"/>
                <a:ea typeface="Roboto"/>
                <a:cs typeface="Roboto"/>
                <a:sym typeface="Roboto"/>
              </a:endParaRPr>
            </a:p>
          </p:txBody>
        </p:sp>
      </p:grpSp>
      <p:grpSp>
        <p:nvGrpSpPr>
          <p:cNvPr id="317" name="Google Shape;317;p14"/>
          <p:cNvGrpSpPr/>
          <p:nvPr/>
        </p:nvGrpSpPr>
        <p:grpSpPr>
          <a:xfrm>
            <a:off x="4478394" y="3163469"/>
            <a:ext cx="2300440" cy="1980038"/>
            <a:chOff x="4193764" y="1258050"/>
            <a:chExt cx="2726286" cy="2547000"/>
          </a:xfrm>
        </p:grpSpPr>
        <p:sp>
          <p:nvSpPr>
            <p:cNvPr id="318" name="Google Shape;318;p14"/>
            <p:cNvSpPr/>
            <p:nvPr/>
          </p:nvSpPr>
          <p:spPr>
            <a:xfrm rot="2700000">
              <a:off x="5186401"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319" name="Google Shape;319;p14"/>
            <p:cNvSpPr/>
            <p:nvPr/>
          </p:nvSpPr>
          <p:spPr>
            <a:xfrm>
              <a:off x="4410780"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ctr">
                <a:spcBef>
                  <a:spcPts val="0"/>
                </a:spcBef>
                <a:spcAft>
                  <a:spcPts val="0"/>
                </a:spcAft>
                <a:buNone/>
              </a:pPr>
              <a:r>
                <a:rPr b="1" lang="en-GB" sz="933">
                  <a:solidFill>
                    <a:srgbClr val="1D7E75"/>
                  </a:solidFill>
                  <a:latin typeface="Roboto"/>
                  <a:ea typeface="Roboto"/>
                  <a:cs typeface="Roboto"/>
                  <a:sym typeface="Roboto"/>
                </a:rPr>
                <a:t>3</a:t>
              </a:r>
              <a:endParaRPr b="1" sz="933">
                <a:solidFill>
                  <a:srgbClr val="1D7E75"/>
                </a:solidFill>
                <a:latin typeface="Roboto"/>
                <a:ea typeface="Roboto"/>
                <a:cs typeface="Roboto"/>
                <a:sym typeface="Roboto"/>
              </a:endParaRPr>
            </a:p>
          </p:txBody>
        </p:sp>
        <p:sp>
          <p:nvSpPr>
            <p:cNvPr id="320" name="Google Shape;320;p14"/>
            <p:cNvSpPr txBox="1"/>
            <p:nvPr/>
          </p:nvSpPr>
          <p:spPr>
            <a:xfrm rot="-2700000">
              <a:off x="4400124" y="2240504"/>
              <a:ext cx="2334301"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9"/>
                </a:rPr>
                <a:t>Dashboard Design Principles</a:t>
              </a:r>
              <a:endParaRPr b="1" sz="1200">
                <a:solidFill>
                  <a:srgbClr val="FFFFFF"/>
                </a:solidFill>
                <a:latin typeface="Roboto"/>
                <a:ea typeface="Roboto"/>
                <a:cs typeface="Roboto"/>
                <a:sym typeface="Roboto"/>
              </a:endParaRPr>
            </a:p>
          </p:txBody>
        </p:sp>
        <p:sp>
          <p:nvSpPr>
            <p:cNvPr id="321" name="Google Shape;321;p14"/>
            <p:cNvSpPr txBox="1"/>
            <p:nvPr/>
          </p:nvSpPr>
          <p:spPr>
            <a:xfrm rot="-2700000">
              <a:off x="4859736"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20</a:t>
              </a:r>
              <a:endParaRPr b="1" sz="822">
                <a:latin typeface="Roboto"/>
                <a:ea typeface="Roboto"/>
                <a:cs typeface="Roboto"/>
                <a:sym typeface="Roboto"/>
              </a:endParaRPr>
            </a:p>
          </p:txBody>
        </p:sp>
      </p:grpSp>
      <p:grpSp>
        <p:nvGrpSpPr>
          <p:cNvPr id="322" name="Google Shape;322;p14"/>
          <p:cNvGrpSpPr/>
          <p:nvPr/>
        </p:nvGrpSpPr>
        <p:grpSpPr>
          <a:xfrm>
            <a:off x="6090239" y="3163469"/>
            <a:ext cx="2300440" cy="1980038"/>
            <a:chOff x="6103986" y="1258050"/>
            <a:chExt cx="2726286" cy="2547000"/>
          </a:xfrm>
        </p:grpSpPr>
        <p:sp>
          <p:nvSpPr>
            <p:cNvPr id="323" name="Google Shape;323;p14"/>
            <p:cNvSpPr/>
            <p:nvPr/>
          </p:nvSpPr>
          <p:spPr>
            <a:xfrm rot="2700000">
              <a:off x="7096623" y="1011412"/>
              <a:ext cx="561726" cy="3040276"/>
            </a:xfrm>
            <a:prstGeom prst="roundRect">
              <a:avLst>
                <a:gd fmla="val 50000" name="adj"/>
              </a:avLst>
            </a:prstGeom>
            <a:solidFill>
              <a:schemeClr val="accent3"/>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324" name="Google Shape;324;p14"/>
            <p:cNvSpPr/>
            <p:nvPr/>
          </p:nvSpPr>
          <p:spPr>
            <a:xfrm>
              <a:off x="6321002" y="3205393"/>
              <a:ext cx="374100" cy="374100"/>
            </a:xfrm>
            <a:prstGeom prst="ellipse">
              <a:avLst/>
            </a:prstGeom>
            <a:solidFill>
              <a:srgbClr val="FFFFFF"/>
            </a:solidFill>
            <a:ln>
              <a:noFill/>
            </a:ln>
            <a:effectLst>
              <a:outerShdw blurRad="177704" rotWithShape="0" algn="tl" dir="5400000" dist="39490">
                <a:srgbClr val="000000">
                  <a:alpha val="54900"/>
                </a:srgbClr>
              </a:outerShdw>
            </a:effectLst>
          </p:spPr>
          <p:txBody>
            <a:bodyPr anchorCtr="0" anchor="ctr" bIns="71075" lIns="71075" spcFirstLastPara="1" rIns="71075" wrap="square" tIns="71075">
              <a:noAutofit/>
            </a:bodyPr>
            <a:lstStyle/>
            <a:p>
              <a:pPr indent="0" lvl="0" marL="0" rtl="0" algn="l">
                <a:spcBef>
                  <a:spcPts val="0"/>
                </a:spcBef>
                <a:spcAft>
                  <a:spcPts val="0"/>
                </a:spcAft>
                <a:buNone/>
              </a:pPr>
              <a:r>
                <a:rPr b="1" lang="en-GB" sz="933">
                  <a:solidFill>
                    <a:srgbClr val="1F887E"/>
                  </a:solidFill>
                  <a:latin typeface="Roboto"/>
                  <a:ea typeface="Roboto"/>
                  <a:cs typeface="Roboto"/>
                  <a:sym typeface="Roboto"/>
                </a:rPr>
                <a:t>4</a:t>
              </a:r>
              <a:endParaRPr b="1" sz="933">
                <a:solidFill>
                  <a:srgbClr val="1F887E"/>
                </a:solidFill>
                <a:latin typeface="Roboto"/>
                <a:ea typeface="Roboto"/>
                <a:cs typeface="Roboto"/>
                <a:sym typeface="Roboto"/>
              </a:endParaRPr>
            </a:p>
          </p:txBody>
        </p:sp>
        <p:sp>
          <p:nvSpPr>
            <p:cNvPr id="325" name="Google Shape;325;p14"/>
            <p:cNvSpPr txBox="1"/>
            <p:nvPr/>
          </p:nvSpPr>
          <p:spPr>
            <a:xfrm rot="-2700000">
              <a:off x="6306241" y="2238854"/>
              <a:ext cx="2338968" cy="393293"/>
            </a:xfrm>
            <a:prstGeom prst="rect">
              <a:avLst/>
            </a:prstGeom>
            <a:noFill/>
            <a:ln>
              <a:noFill/>
            </a:ln>
          </p:spPr>
          <p:txBody>
            <a:bodyPr anchorCtr="0" anchor="ctr" bIns="71075" lIns="71075" spcFirstLastPara="1" rIns="71075" wrap="square" tIns="71075">
              <a:noAutofit/>
            </a:bodyPr>
            <a:lstStyle/>
            <a:p>
              <a:pPr indent="0" lvl="0" marL="0" rtl="0" algn="l">
                <a:lnSpc>
                  <a:spcPct val="115000"/>
                </a:lnSpc>
                <a:spcBef>
                  <a:spcPts val="0"/>
                </a:spcBef>
                <a:spcAft>
                  <a:spcPts val="0"/>
                </a:spcAft>
                <a:buNone/>
              </a:pPr>
              <a:r>
                <a:rPr b="1" lang="en-GB" sz="1200" u="sng">
                  <a:solidFill>
                    <a:schemeClr val="hlink"/>
                  </a:solidFill>
                  <a:latin typeface="Roboto"/>
                  <a:ea typeface="Roboto"/>
                  <a:cs typeface="Roboto"/>
                  <a:sym typeface="Roboto"/>
                  <a:hlinkClick action="ppaction://hlinksldjump" r:id="rId10"/>
                </a:rPr>
                <a:t>Conclusion</a:t>
              </a:r>
              <a:endParaRPr b="1" sz="1200">
                <a:solidFill>
                  <a:srgbClr val="FFFFFF"/>
                </a:solidFill>
                <a:latin typeface="Roboto"/>
                <a:ea typeface="Roboto"/>
                <a:cs typeface="Roboto"/>
                <a:sym typeface="Roboto"/>
              </a:endParaRPr>
            </a:p>
          </p:txBody>
        </p:sp>
        <p:sp>
          <p:nvSpPr>
            <p:cNvPr id="326" name="Google Shape;326;p14"/>
            <p:cNvSpPr txBox="1"/>
            <p:nvPr/>
          </p:nvSpPr>
          <p:spPr>
            <a:xfrm rot="-2700000">
              <a:off x="6769958" y="2550697"/>
              <a:ext cx="2203628" cy="507420"/>
            </a:xfrm>
            <a:prstGeom prst="rect">
              <a:avLst/>
            </a:prstGeom>
            <a:noFill/>
            <a:ln>
              <a:noFill/>
            </a:ln>
          </p:spPr>
          <p:txBody>
            <a:bodyPr anchorCtr="0" anchor="t" bIns="71075" lIns="71075" spcFirstLastPara="1" rIns="71075" wrap="square" tIns="71075">
              <a:noAutofit/>
            </a:bodyPr>
            <a:lstStyle/>
            <a:p>
              <a:pPr indent="0" lvl="0" marL="0" rtl="0" algn="l">
                <a:spcBef>
                  <a:spcPts val="0"/>
                </a:spcBef>
                <a:spcAft>
                  <a:spcPts val="1244"/>
                </a:spcAft>
                <a:buNone/>
              </a:pPr>
              <a:r>
                <a:rPr lang="en-GB" sz="822">
                  <a:latin typeface="Roboto"/>
                  <a:ea typeface="Roboto"/>
                  <a:cs typeface="Roboto"/>
                  <a:sym typeface="Roboto"/>
                </a:rPr>
                <a:t>Page 21</a:t>
              </a:r>
              <a:endParaRPr b="1" sz="822">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Project </a:t>
            </a:r>
            <a:r>
              <a:rPr lang="en-GB">
                <a:solidFill>
                  <a:schemeClr val="lt1"/>
                </a:solidFill>
                <a:latin typeface="Play"/>
                <a:ea typeface="Play"/>
                <a:cs typeface="Play"/>
                <a:sym typeface="Play"/>
              </a:rPr>
              <a:t>Objective</a:t>
            </a:r>
            <a:endParaRPr>
              <a:solidFill>
                <a:schemeClr val="lt1"/>
              </a:solidFill>
            </a:endParaRPr>
          </a:p>
        </p:txBody>
      </p:sp>
      <p:sp>
        <p:nvSpPr>
          <p:cNvPr id="332" name="Google Shape;332;p15"/>
          <p:cNvSpPr txBox="1"/>
          <p:nvPr>
            <p:ph idx="1" type="body"/>
          </p:nvPr>
        </p:nvSpPr>
        <p:spPr>
          <a:xfrm>
            <a:off x="1303800" y="1217975"/>
            <a:ext cx="7030500" cy="122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lt1"/>
                </a:solidFill>
              </a:rPr>
              <a:t>This project presents an interactive GA4 e-commerce performance dashboard created in Looker Studio using SQL-transformed data from BigQuery. The dashboard analyzes sessions, purchases, revenue, conversion rate, customer journey funnel steps, traffic sources, landing pages, and device-based performance. </a:t>
            </a:r>
            <a:endParaRPr>
              <a:solidFill>
                <a:schemeClr val="lt1"/>
              </a:solidFill>
            </a:endParaRPr>
          </a:p>
        </p:txBody>
      </p:sp>
      <p:sp>
        <p:nvSpPr>
          <p:cNvPr id="333" name="Google Shape;333;p15"/>
          <p:cNvSpPr/>
          <p:nvPr/>
        </p:nvSpPr>
        <p:spPr>
          <a:xfrm>
            <a:off x="640075" y="2571750"/>
            <a:ext cx="2396100" cy="2163000"/>
          </a:xfrm>
          <a:prstGeom prst="ellipse">
            <a:avLst/>
          </a:prstGeom>
          <a:solidFill>
            <a:srgbClr val="FFFFFF"/>
          </a:solidFill>
          <a:ln cap="flat" cmpd="sng" w="12700">
            <a:solidFill>
              <a:srgbClr val="E1E7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Data Source</a:t>
            </a:r>
            <a:endParaRPr sz="1200"/>
          </a:p>
          <a:p>
            <a:pPr indent="0" lvl="0" marL="0" rtl="0" algn="l">
              <a:spcBef>
                <a:spcPts val="0"/>
              </a:spcBef>
              <a:spcAft>
                <a:spcPts val="0"/>
              </a:spcAft>
              <a:buNone/>
            </a:pPr>
            <a:r>
              <a:t/>
            </a:r>
            <a:endParaRPr/>
          </a:p>
          <a:p>
            <a:pPr indent="0" lvl="0" marL="0" rtl="0" algn="ctr">
              <a:spcBef>
                <a:spcPts val="0"/>
              </a:spcBef>
              <a:spcAft>
                <a:spcPts val="0"/>
              </a:spcAft>
              <a:buClr>
                <a:srgbClr val="39475A"/>
              </a:buClr>
              <a:buSzPts val="1230"/>
              <a:buFont typeface="Arial"/>
              <a:buNone/>
            </a:pPr>
            <a:r>
              <a:rPr lang="en-GB" sz="930">
                <a:solidFill>
                  <a:srgbClr val="39475A"/>
                </a:solidFill>
              </a:rPr>
              <a:t>Public GA4 ecommerce sample dataset in BigQuery.</a:t>
            </a:r>
            <a:endParaRPr sz="930"/>
          </a:p>
          <a:p>
            <a:pPr indent="0" lvl="0" marL="0" rtl="0" algn="ctr">
              <a:spcBef>
                <a:spcPts val="0"/>
              </a:spcBef>
              <a:spcAft>
                <a:spcPts val="0"/>
              </a:spcAft>
              <a:buClr>
                <a:srgbClr val="000000"/>
              </a:buClr>
              <a:buSzPts val="1230"/>
              <a:buFont typeface="Arial"/>
              <a:buNone/>
            </a:pPr>
            <a:r>
              <a:t/>
            </a:r>
            <a:endParaRPr sz="930"/>
          </a:p>
          <a:p>
            <a:pPr indent="0" lvl="0" marL="0" rtl="0" algn="ctr">
              <a:spcBef>
                <a:spcPts val="0"/>
              </a:spcBef>
              <a:spcAft>
                <a:spcPts val="0"/>
              </a:spcAft>
              <a:buClr>
                <a:srgbClr val="39475A"/>
              </a:buClr>
              <a:buSzPts val="1230"/>
              <a:buFont typeface="Arial"/>
              <a:buNone/>
            </a:pPr>
            <a:r>
              <a:rPr lang="en-GB" sz="930">
                <a:solidFill>
                  <a:srgbClr val="39475A"/>
                </a:solidFill>
              </a:rPr>
              <a:t>The dataset is transformed using SQL before visualization.</a:t>
            </a:r>
            <a:endParaRPr sz="1100"/>
          </a:p>
        </p:txBody>
      </p:sp>
      <p:sp>
        <p:nvSpPr>
          <p:cNvPr id="334" name="Google Shape;334;p15"/>
          <p:cNvSpPr/>
          <p:nvPr/>
        </p:nvSpPr>
        <p:spPr>
          <a:xfrm>
            <a:off x="6079575" y="2571750"/>
            <a:ext cx="2396100" cy="2163000"/>
          </a:xfrm>
          <a:prstGeom prst="ellipse">
            <a:avLst/>
          </a:prstGeom>
          <a:solidFill>
            <a:srgbClr val="FFFFFF"/>
          </a:solidFill>
          <a:ln cap="flat" cmpd="sng" w="12700">
            <a:solidFill>
              <a:srgbClr val="E1E7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Business Focus</a:t>
            </a:r>
            <a:endParaRPr sz="1200"/>
          </a:p>
          <a:p>
            <a:pPr indent="0" lvl="0" marL="0" rtl="0" algn="ctr">
              <a:spcBef>
                <a:spcPts val="0"/>
              </a:spcBef>
              <a:spcAft>
                <a:spcPts val="0"/>
              </a:spcAft>
              <a:buNone/>
            </a:pPr>
            <a:r>
              <a:t/>
            </a:r>
            <a:endParaRPr/>
          </a:p>
          <a:p>
            <a:pPr indent="0" lvl="0" marL="0" rtl="0" algn="ctr">
              <a:spcBef>
                <a:spcPts val="0"/>
              </a:spcBef>
              <a:spcAft>
                <a:spcPts val="0"/>
              </a:spcAft>
              <a:buClr>
                <a:srgbClr val="39475A"/>
              </a:buClr>
              <a:buSzPts val="1230"/>
              <a:buFont typeface="Arial"/>
              <a:buNone/>
            </a:pPr>
            <a:r>
              <a:rPr lang="en-GB" sz="930">
                <a:solidFill>
                  <a:srgbClr val="39475A"/>
                </a:solidFill>
              </a:rPr>
              <a:t>Track user acquisition, funnel drop-off, revenue performance, landing page quality, and device conversion.</a:t>
            </a:r>
            <a:endParaRPr sz="1100"/>
          </a:p>
        </p:txBody>
      </p:sp>
      <p:sp>
        <p:nvSpPr>
          <p:cNvPr id="335" name="Google Shape;335;p15"/>
          <p:cNvSpPr/>
          <p:nvPr/>
        </p:nvSpPr>
        <p:spPr>
          <a:xfrm>
            <a:off x="3359813" y="2571750"/>
            <a:ext cx="2396100" cy="2163000"/>
          </a:xfrm>
          <a:prstGeom prst="ellipse">
            <a:avLst/>
          </a:prstGeom>
          <a:solidFill>
            <a:srgbClr val="FFFFFF"/>
          </a:solidFill>
          <a:ln cap="flat" cmpd="sng" w="12700">
            <a:solidFill>
              <a:srgbClr val="E1E7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Dashboard Tool</a:t>
            </a:r>
            <a:endParaRPr sz="1200"/>
          </a:p>
          <a:p>
            <a:pPr indent="0" lvl="0" marL="0" rtl="0" algn="l">
              <a:spcBef>
                <a:spcPts val="0"/>
              </a:spcBef>
              <a:spcAft>
                <a:spcPts val="0"/>
              </a:spcAft>
              <a:buNone/>
            </a:pPr>
            <a:r>
              <a:t/>
            </a:r>
            <a:endParaRPr/>
          </a:p>
          <a:p>
            <a:pPr indent="0" lvl="0" marL="0" rtl="0" algn="ctr">
              <a:spcBef>
                <a:spcPts val="0"/>
              </a:spcBef>
              <a:spcAft>
                <a:spcPts val="0"/>
              </a:spcAft>
              <a:buClr>
                <a:srgbClr val="39475A"/>
              </a:buClr>
              <a:buSzPts val="1230"/>
              <a:buFont typeface="Arial"/>
              <a:buNone/>
            </a:pPr>
            <a:r>
              <a:rPr lang="en-GB" sz="900">
                <a:solidFill>
                  <a:srgbClr val="39475A"/>
                </a:solidFill>
              </a:rPr>
              <a:t>Looker Studio is used to create the online dashboard, filters, KPI cards, and interactive charts.</a:t>
            </a:r>
            <a:endParaRPr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lt1"/>
                </a:solidFill>
              </a:rPr>
              <a:t>Technical Tasks: SQL View 1: Main E-commerce Dashboard Dataset</a:t>
            </a:r>
            <a:endParaRPr>
              <a:solidFill>
                <a:schemeClr val="lt1"/>
              </a:solidFill>
            </a:endParaRPr>
          </a:p>
        </p:txBody>
      </p:sp>
      <p:sp>
        <p:nvSpPr>
          <p:cNvPr id="341" name="Google Shape;341;p16"/>
          <p:cNvSpPr txBox="1"/>
          <p:nvPr>
            <p:ph idx="1" type="body"/>
          </p:nvPr>
        </p:nvSpPr>
        <p:spPr>
          <a:xfrm>
            <a:off x="1379925" y="1597875"/>
            <a:ext cx="7030500" cy="689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GB" sz="1100">
                <a:solidFill>
                  <a:schemeClr val="lt1"/>
                </a:solidFill>
                <a:latin typeface="Arial"/>
                <a:ea typeface="Arial"/>
                <a:cs typeface="Arial"/>
                <a:sym typeface="Arial"/>
              </a:rPr>
              <a:t>In this SQL query, a main dashboard view named </a:t>
            </a:r>
            <a:r>
              <a:rPr lang="en-GB" sz="1100">
                <a:solidFill>
                  <a:schemeClr val="lt1"/>
                </a:solidFill>
                <a:latin typeface="Roboto Mono"/>
                <a:ea typeface="Roboto Mono"/>
                <a:cs typeface="Roboto Mono"/>
                <a:sym typeface="Roboto Mono"/>
              </a:rPr>
              <a:t>ga4_ecommerce_dashboard</a:t>
            </a:r>
            <a:r>
              <a:rPr lang="en-GB" sz="1100">
                <a:solidFill>
                  <a:schemeClr val="lt1"/>
                </a:solidFill>
                <a:latin typeface="Arial"/>
                <a:ea typeface="Arial"/>
                <a:cs typeface="Arial"/>
                <a:sym typeface="Arial"/>
              </a:rPr>
              <a:t> was created in BigQuery. The raw GA4 event-level data was transformed into a session-level dataset that can be used directly in Looker Studio.</a:t>
            </a:r>
            <a:endParaRPr>
              <a:solidFill>
                <a:schemeClr val="lt1"/>
              </a:solidFill>
            </a:endParaRPr>
          </a:p>
        </p:txBody>
      </p:sp>
      <p:grpSp>
        <p:nvGrpSpPr>
          <p:cNvPr id="342" name="Google Shape;342;p16"/>
          <p:cNvGrpSpPr/>
          <p:nvPr/>
        </p:nvGrpSpPr>
        <p:grpSpPr>
          <a:xfrm>
            <a:off x="708975" y="2451050"/>
            <a:ext cx="7481416" cy="2262000"/>
            <a:chOff x="1593011" y="2262974"/>
            <a:chExt cx="5957964" cy="750000"/>
          </a:xfrm>
        </p:grpSpPr>
        <p:sp>
          <p:nvSpPr>
            <p:cNvPr id="343" name="Google Shape;343;p16"/>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flipH="1">
              <a:off x="2283025" y="2322575"/>
              <a:ext cx="1844400" cy="642600"/>
            </a:xfrm>
            <a:prstGeom prst="rect">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rot="-5400000">
              <a:off x="3430246" y="2005995"/>
              <a:ext cx="643360" cy="1276499"/>
            </a:xfrm>
            <a:prstGeom prst="flowChartOffpageConnector">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2342632" y="2399952"/>
              <a:ext cx="18444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FFFFFF"/>
                  </a:solidFill>
                  <a:latin typeface="Roboto Medium"/>
                  <a:ea typeface="Roboto Medium"/>
                  <a:cs typeface="Roboto Medium"/>
                  <a:sym typeface="Roboto Medium"/>
                </a:rPr>
                <a:t>The query extracted key fields such as:</a:t>
              </a:r>
              <a:endParaRPr sz="1200">
                <a:solidFill>
                  <a:srgbClr val="FFFFFF"/>
                </a:solidFill>
                <a:latin typeface="Roboto"/>
                <a:ea typeface="Roboto"/>
                <a:cs typeface="Roboto"/>
                <a:sym typeface="Roboto"/>
              </a:endParaRPr>
            </a:p>
          </p:txBody>
        </p:sp>
        <p:sp>
          <p:nvSpPr>
            <p:cNvPr id="347" name="Google Shape;347;p16"/>
            <p:cNvSpPr/>
            <p:nvPr/>
          </p:nvSpPr>
          <p:spPr>
            <a:xfrm>
              <a:off x="1593011" y="2262974"/>
              <a:ext cx="690000" cy="750000"/>
            </a:xfrm>
            <a:prstGeom prst="roundRect">
              <a:avLst>
                <a:gd fmla="val 16667" name="adj"/>
              </a:avLst>
            </a:prstGeom>
            <a:solidFill>
              <a:srgbClr val="2B4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solidFill>
                    <a:srgbClr val="FFFFFF"/>
                  </a:solidFill>
                  <a:latin typeface="Roboto"/>
                  <a:ea typeface="Roboto"/>
                  <a:cs typeface="Roboto"/>
                  <a:sym typeface="Roboto"/>
                </a:rPr>
                <a:t>01</a:t>
              </a:r>
              <a:endParaRPr b="1" sz="2600">
                <a:solidFill>
                  <a:srgbClr val="FFFFFF"/>
                </a:solidFill>
                <a:latin typeface="Roboto"/>
                <a:ea typeface="Roboto"/>
                <a:cs typeface="Roboto"/>
                <a:sym typeface="Roboto"/>
              </a:endParaRPr>
            </a:p>
          </p:txBody>
        </p:sp>
        <p:sp>
          <p:nvSpPr>
            <p:cNvPr id="348" name="Google Shape;348;p16"/>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Session date and session start time</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User and session identifiers</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Landing page</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Traffic source, medium, and campaign</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Device category, language, and operating system</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E-commerce funnel events</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Purchases, transactions, and revenue</a:t>
              </a:r>
              <a:endParaRPr sz="1000">
                <a:solidFill>
                  <a:srgbClr val="2B4A4A"/>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17" title="Screenshot 2026-06-01 175554.png"/>
          <p:cNvPicPr preferRelativeResize="0"/>
          <p:nvPr/>
        </p:nvPicPr>
        <p:blipFill>
          <a:blip r:embed="rId3">
            <a:alphaModFix/>
          </a:blip>
          <a:stretch>
            <a:fillRect/>
          </a:stretch>
        </p:blipFill>
        <p:spPr>
          <a:xfrm>
            <a:off x="0" y="0"/>
            <a:ext cx="3492800" cy="2786600"/>
          </a:xfrm>
          <a:prstGeom prst="rect">
            <a:avLst/>
          </a:prstGeom>
          <a:noFill/>
          <a:ln>
            <a:noFill/>
          </a:ln>
        </p:spPr>
      </p:pic>
      <p:pic>
        <p:nvPicPr>
          <p:cNvPr id="354" name="Google Shape;354;p17" title="Screenshot 2026-06-01 175603.png"/>
          <p:cNvPicPr preferRelativeResize="0"/>
          <p:nvPr/>
        </p:nvPicPr>
        <p:blipFill>
          <a:blip r:embed="rId4">
            <a:alphaModFix/>
          </a:blip>
          <a:stretch>
            <a:fillRect/>
          </a:stretch>
        </p:blipFill>
        <p:spPr>
          <a:xfrm>
            <a:off x="3492800" y="0"/>
            <a:ext cx="3914700" cy="2885476"/>
          </a:xfrm>
          <a:prstGeom prst="rect">
            <a:avLst/>
          </a:prstGeom>
          <a:noFill/>
          <a:ln>
            <a:noFill/>
          </a:ln>
        </p:spPr>
      </p:pic>
      <p:pic>
        <p:nvPicPr>
          <p:cNvPr id="355" name="Google Shape;355;p17" title="Screenshot 2026-06-01 175612.png"/>
          <p:cNvPicPr preferRelativeResize="0"/>
          <p:nvPr/>
        </p:nvPicPr>
        <p:blipFill rotWithShape="1">
          <a:blip r:embed="rId5">
            <a:alphaModFix/>
          </a:blip>
          <a:srcRect b="13629" l="0" r="3512" t="0"/>
          <a:stretch/>
        </p:blipFill>
        <p:spPr>
          <a:xfrm>
            <a:off x="0" y="2786600"/>
            <a:ext cx="3710276" cy="2346541"/>
          </a:xfrm>
          <a:prstGeom prst="rect">
            <a:avLst/>
          </a:prstGeom>
          <a:noFill/>
          <a:ln>
            <a:noFill/>
          </a:ln>
        </p:spPr>
      </p:pic>
      <p:pic>
        <p:nvPicPr>
          <p:cNvPr id="356" name="Google Shape;356;p17" title="Screenshot 2026-06-01 175620.png"/>
          <p:cNvPicPr preferRelativeResize="0"/>
          <p:nvPr/>
        </p:nvPicPr>
        <p:blipFill>
          <a:blip r:embed="rId6">
            <a:alphaModFix/>
          </a:blip>
          <a:stretch>
            <a:fillRect/>
          </a:stretch>
        </p:blipFill>
        <p:spPr>
          <a:xfrm>
            <a:off x="3710275" y="2885475"/>
            <a:ext cx="2090800" cy="2258025"/>
          </a:xfrm>
          <a:prstGeom prst="rect">
            <a:avLst/>
          </a:prstGeom>
          <a:noFill/>
          <a:ln>
            <a:noFill/>
          </a:ln>
        </p:spPr>
      </p:pic>
      <p:pic>
        <p:nvPicPr>
          <p:cNvPr id="357" name="Google Shape;357;p17" title="Screenshot 2026-06-01 175627.png"/>
          <p:cNvPicPr preferRelativeResize="0"/>
          <p:nvPr/>
        </p:nvPicPr>
        <p:blipFill>
          <a:blip r:embed="rId7">
            <a:alphaModFix/>
          </a:blip>
          <a:stretch>
            <a:fillRect/>
          </a:stretch>
        </p:blipFill>
        <p:spPr>
          <a:xfrm>
            <a:off x="5801075" y="2796950"/>
            <a:ext cx="1606425" cy="2346550"/>
          </a:xfrm>
          <a:prstGeom prst="rect">
            <a:avLst/>
          </a:prstGeom>
          <a:noFill/>
          <a:ln>
            <a:noFill/>
          </a:ln>
        </p:spPr>
      </p:pic>
      <p:sp>
        <p:nvSpPr>
          <p:cNvPr id="358" name="Google Shape;358;p17"/>
          <p:cNvSpPr/>
          <p:nvPr/>
        </p:nvSpPr>
        <p:spPr>
          <a:xfrm>
            <a:off x="7494500" y="1298375"/>
            <a:ext cx="1497300" cy="1728900"/>
          </a:xfrm>
          <a:prstGeom prst="foldedCorner">
            <a:avLst>
              <a:gd fmla="val 27374"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accent3"/>
                </a:solidFill>
                <a:latin typeface="Maven Pro"/>
                <a:ea typeface="Maven Pro"/>
                <a:cs typeface="Maven Pro"/>
                <a:sym typeface="Maven Pro"/>
              </a:rPr>
              <a:t>First SQL File:</a:t>
            </a:r>
            <a:endParaRPr b="1" sz="1800">
              <a:solidFill>
                <a:schemeClr val="accent3"/>
              </a:solidFill>
              <a:latin typeface="Maven Pro"/>
              <a:ea typeface="Maven Pro"/>
              <a:cs typeface="Maven Pro"/>
              <a:sym typeface="Maven Pro"/>
            </a:endParaRPr>
          </a:p>
          <a:p>
            <a:pPr indent="0" lvl="0" marL="0" rtl="0" algn="ctr">
              <a:spcBef>
                <a:spcPts val="0"/>
              </a:spcBef>
              <a:spcAft>
                <a:spcPts val="0"/>
              </a:spcAft>
              <a:buNone/>
            </a:pPr>
            <a:r>
              <a:t/>
            </a:r>
            <a:endParaRPr b="1" sz="1800">
              <a:solidFill>
                <a:srgbClr val="122033"/>
              </a:solidFill>
              <a:latin typeface="Maven Pro"/>
              <a:ea typeface="Maven Pro"/>
              <a:cs typeface="Maven Pro"/>
              <a:sym typeface="Maven Pro"/>
            </a:endParaRPr>
          </a:p>
          <a:p>
            <a:pPr indent="0" lvl="0" marL="0" rtl="0" algn="ctr">
              <a:spcBef>
                <a:spcPts val="0"/>
              </a:spcBef>
              <a:spcAft>
                <a:spcPts val="0"/>
              </a:spcAft>
              <a:buNone/>
            </a:pPr>
            <a:r>
              <a:rPr lang="en-GB" u="sng">
                <a:solidFill>
                  <a:schemeClr val="accent3"/>
                </a:solidFill>
                <a:latin typeface="Maven Pro"/>
                <a:ea typeface="Maven Pro"/>
                <a:cs typeface="Maven Pro"/>
                <a:sym typeface="Maven Pro"/>
              </a:rPr>
              <a:t>kpi-project.sql</a:t>
            </a:r>
            <a:endParaRPr b="1" sz="1800" u="sng">
              <a:solidFill>
                <a:schemeClr val="accent3"/>
              </a:solidFill>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grpSp>
        <p:nvGrpSpPr>
          <p:cNvPr id="363" name="Google Shape;363;p18"/>
          <p:cNvGrpSpPr/>
          <p:nvPr/>
        </p:nvGrpSpPr>
        <p:grpSpPr>
          <a:xfrm>
            <a:off x="633025" y="2473725"/>
            <a:ext cx="7481416" cy="2262000"/>
            <a:chOff x="1593011" y="2262974"/>
            <a:chExt cx="5957964" cy="750000"/>
          </a:xfrm>
        </p:grpSpPr>
        <p:sp>
          <p:nvSpPr>
            <p:cNvPr id="364" name="Google Shape;364;p18"/>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flipH="1">
              <a:off x="2283025" y="2322575"/>
              <a:ext cx="1844400" cy="642600"/>
            </a:xfrm>
            <a:prstGeom prst="rect">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rot="-5400000">
              <a:off x="3430246" y="2005995"/>
              <a:ext cx="643360" cy="1276499"/>
            </a:xfrm>
            <a:prstGeom prst="flowChartOffpageConnector">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2342632" y="2399952"/>
              <a:ext cx="18444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FFFFFF"/>
                  </a:solidFill>
                  <a:latin typeface="Roboto Medium"/>
                  <a:ea typeface="Roboto Medium"/>
                  <a:cs typeface="Roboto Medium"/>
                  <a:sym typeface="Roboto Medium"/>
                </a:rPr>
                <a:t>What We Used It For:</a:t>
              </a:r>
              <a:endParaRPr sz="1200">
                <a:solidFill>
                  <a:srgbClr val="FFFFFF"/>
                </a:solidFill>
                <a:latin typeface="Roboto"/>
                <a:ea typeface="Roboto"/>
                <a:cs typeface="Roboto"/>
                <a:sym typeface="Roboto"/>
              </a:endParaRPr>
            </a:p>
          </p:txBody>
        </p:sp>
        <p:sp>
          <p:nvSpPr>
            <p:cNvPr id="368" name="Google Shape;368;p18"/>
            <p:cNvSpPr/>
            <p:nvPr/>
          </p:nvSpPr>
          <p:spPr>
            <a:xfrm>
              <a:off x="1593011" y="2262974"/>
              <a:ext cx="690000" cy="750000"/>
            </a:xfrm>
            <a:prstGeom prst="roundRect">
              <a:avLst>
                <a:gd fmla="val 16667" name="adj"/>
              </a:avLst>
            </a:prstGeom>
            <a:solidFill>
              <a:srgbClr val="2B4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solidFill>
                    <a:srgbClr val="FFFFFF"/>
                  </a:solidFill>
                  <a:latin typeface="Roboto"/>
                  <a:ea typeface="Roboto"/>
                  <a:cs typeface="Roboto"/>
                  <a:sym typeface="Roboto"/>
                </a:rPr>
                <a:t>02</a:t>
              </a:r>
              <a:endParaRPr b="1" sz="2600">
                <a:solidFill>
                  <a:srgbClr val="FFFFFF"/>
                </a:solidFill>
                <a:latin typeface="Roboto"/>
                <a:ea typeface="Roboto"/>
                <a:cs typeface="Roboto"/>
                <a:sym typeface="Roboto"/>
              </a:endParaRPr>
            </a:p>
          </p:txBody>
        </p:sp>
        <p:sp>
          <p:nvSpPr>
            <p:cNvPr id="369" name="Google Shape;369;p18"/>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GB" sz="1000">
                  <a:solidFill>
                    <a:srgbClr val="2B4A4A"/>
                  </a:solidFill>
                  <a:latin typeface="Roboto"/>
                  <a:ea typeface="Roboto"/>
                  <a:cs typeface="Roboto"/>
                  <a:sym typeface="Roboto"/>
                </a:rPr>
                <a:t>This view was used as the main data source for KPI cards, trend charts, revenue analysis, landing page performance, device conversion analysis, and dashboard filters. </a:t>
              </a:r>
              <a:endParaRPr sz="1000">
                <a:solidFill>
                  <a:srgbClr val="2B4A4A"/>
                </a:solidFill>
                <a:latin typeface="Roboto"/>
                <a:ea typeface="Roboto"/>
                <a:cs typeface="Roboto"/>
                <a:sym typeface="Roboto"/>
              </a:endParaRPr>
            </a:p>
          </p:txBody>
        </p:sp>
      </p:grpSp>
      <p:sp>
        <p:nvSpPr>
          <p:cNvPr id="370" name="Google Shape;370;p18"/>
          <p:cNvSpPr/>
          <p:nvPr/>
        </p:nvSpPr>
        <p:spPr>
          <a:xfrm>
            <a:off x="3503675" y="624175"/>
            <a:ext cx="1497300" cy="1728900"/>
          </a:xfrm>
          <a:prstGeom prst="foldedCorner">
            <a:avLst>
              <a:gd fmla="val 27374"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accent3"/>
                </a:solidFill>
                <a:latin typeface="Maven Pro"/>
                <a:ea typeface="Maven Pro"/>
                <a:cs typeface="Maven Pro"/>
                <a:sym typeface="Maven Pro"/>
              </a:rPr>
              <a:t>First SQL File:</a:t>
            </a:r>
            <a:endParaRPr b="1" sz="1800">
              <a:solidFill>
                <a:schemeClr val="accent3"/>
              </a:solidFill>
              <a:latin typeface="Maven Pro"/>
              <a:ea typeface="Maven Pro"/>
              <a:cs typeface="Maven Pro"/>
              <a:sym typeface="Maven Pro"/>
            </a:endParaRPr>
          </a:p>
          <a:p>
            <a:pPr indent="0" lvl="0" marL="0" rtl="0" algn="ctr">
              <a:spcBef>
                <a:spcPts val="0"/>
              </a:spcBef>
              <a:spcAft>
                <a:spcPts val="0"/>
              </a:spcAft>
              <a:buNone/>
            </a:pPr>
            <a:r>
              <a:t/>
            </a:r>
            <a:endParaRPr b="1" sz="1800">
              <a:solidFill>
                <a:srgbClr val="122033"/>
              </a:solidFill>
              <a:latin typeface="Maven Pro"/>
              <a:ea typeface="Maven Pro"/>
              <a:cs typeface="Maven Pro"/>
              <a:sym typeface="Maven Pro"/>
            </a:endParaRPr>
          </a:p>
          <a:p>
            <a:pPr indent="0" lvl="0" marL="0" rtl="0" algn="ctr">
              <a:spcBef>
                <a:spcPts val="0"/>
              </a:spcBef>
              <a:spcAft>
                <a:spcPts val="0"/>
              </a:spcAft>
              <a:buNone/>
            </a:pPr>
            <a:r>
              <a:rPr lang="en-GB" u="sng">
                <a:solidFill>
                  <a:schemeClr val="accent3"/>
                </a:solidFill>
                <a:latin typeface="Maven Pro"/>
                <a:ea typeface="Maven Pro"/>
                <a:cs typeface="Maven Pro"/>
                <a:sym typeface="Maven Pro"/>
              </a:rPr>
              <a:t>kpi-project.sql</a:t>
            </a:r>
            <a:endParaRPr b="1" sz="1800" u="sng">
              <a:solidFill>
                <a:schemeClr val="accent3"/>
              </a:solidFill>
              <a:latin typeface="Maven Pro"/>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chemeClr val="lt1"/>
                </a:solidFill>
              </a:rPr>
              <a:t>Technical Tasks: SQL View 2: E-commerce Funnel Dataset </a:t>
            </a:r>
            <a:endParaRPr>
              <a:solidFill>
                <a:schemeClr val="lt1"/>
              </a:solidFill>
            </a:endParaRPr>
          </a:p>
        </p:txBody>
      </p:sp>
      <p:sp>
        <p:nvSpPr>
          <p:cNvPr id="376" name="Google Shape;376;p19"/>
          <p:cNvSpPr txBox="1"/>
          <p:nvPr>
            <p:ph idx="1" type="body"/>
          </p:nvPr>
        </p:nvSpPr>
        <p:spPr>
          <a:xfrm>
            <a:off x="1303800" y="1597875"/>
            <a:ext cx="7030500" cy="7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GB">
                <a:solidFill>
                  <a:schemeClr val="lt1"/>
                </a:solidFill>
              </a:rPr>
              <a:t>This SQL view was created to prepare the e-commerce funnel data for visualization. It transforms the session-level event flags from the main dashboard view into a step-by-step funnel structure. Each funnel step is labeled, ordered, and aggregated by sessions.</a:t>
            </a:r>
            <a:endParaRPr>
              <a:solidFill>
                <a:schemeClr val="lt1"/>
              </a:solidFill>
            </a:endParaRPr>
          </a:p>
        </p:txBody>
      </p:sp>
      <p:grpSp>
        <p:nvGrpSpPr>
          <p:cNvPr id="377" name="Google Shape;377;p19"/>
          <p:cNvGrpSpPr/>
          <p:nvPr/>
        </p:nvGrpSpPr>
        <p:grpSpPr>
          <a:xfrm>
            <a:off x="708975" y="2451050"/>
            <a:ext cx="7481416" cy="2262000"/>
            <a:chOff x="1593011" y="2262974"/>
            <a:chExt cx="5957964" cy="750000"/>
          </a:xfrm>
        </p:grpSpPr>
        <p:sp>
          <p:nvSpPr>
            <p:cNvPr id="378" name="Google Shape;378;p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flipH="1">
              <a:off x="2283025" y="2322575"/>
              <a:ext cx="1844400" cy="642600"/>
            </a:xfrm>
            <a:prstGeom prst="rect">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rot="-5400000">
              <a:off x="3430246" y="2005995"/>
              <a:ext cx="643360" cy="1276499"/>
            </a:xfrm>
            <a:prstGeom prst="flowChartOffpageConnector">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2342632" y="2399952"/>
              <a:ext cx="18444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FFFFFF"/>
                  </a:solidFill>
                  <a:latin typeface="Roboto Medium"/>
                  <a:ea typeface="Roboto Medium"/>
                  <a:cs typeface="Roboto Medium"/>
                  <a:sym typeface="Roboto Medium"/>
                </a:rPr>
                <a:t>The view includes seven ordered funnel steps:</a:t>
              </a:r>
              <a:endParaRPr sz="1200">
                <a:solidFill>
                  <a:srgbClr val="FFFFFF"/>
                </a:solidFill>
                <a:latin typeface="Roboto Medium"/>
                <a:ea typeface="Roboto Medium"/>
                <a:cs typeface="Roboto Medium"/>
                <a:sym typeface="Roboto Medium"/>
              </a:endParaRPr>
            </a:p>
          </p:txBody>
        </p:sp>
        <p:sp>
          <p:nvSpPr>
            <p:cNvPr id="382" name="Google Shape;382;p19"/>
            <p:cNvSpPr/>
            <p:nvPr/>
          </p:nvSpPr>
          <p:spPr>
            <a:xfrm>
              <a:off x="1593011" y="2262974"/>
              <a:ext cx="690000" cy="750000"/>
            </a:xfrm>
            <a:prstGeom prst="roundRect">
              <a:avLst>
                <a:gd fmla="val 16667" name="adj"/>
              </a:avLst>
            </a:prstGeom>
            <a:solidFill>
              <a:srgbClr val="2B4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solidFill>
                    <a:srgbClr val="FFFFFF"/>
                  </a:solidFill>
                  <a:latin typeface="Roboto"/>
                  <a:ea typeface="Roboto"/>
                  <a:cs typeface="Roboto"/>
                  <a:sym typeface="Roboto"/>
                </a:rPr>
                <a:t>01</a:t>
              </a:r>
              <a:endParaRPr b="1" sz="2600">
                <a:solidFill>
                  <a:srgbClr val="FFFFFF"/>
                </a:solidFill>
                <a:latin typeface="Roboto"/>
                <a:ea typeface="Roboto"/>
                <a:cs typeface="Roboto"/>
                <a:sym typeface="Roboto"/>
              </a:endParaRPr>
            </a:p>
          </p:txBody>
        </p:sp>
        <p:sp>
          <p:nvSpPr>
            <p:cNvPr id="383" name="Google Shape;383;p19"/>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Session Start</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View Item</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Add to Cart</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Begin Checkout</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Add Shipping Info</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Add Payment Info</a:t>
              </a:r>
              <a:endParaRPr sz="1000">
                <a:solidFill>
                  <a:srgbClr val="2B4A4A"/>
                </a:solidFill>
                <a:latin typeface="Roboto"/>
                <a:ea typeface="Roboto"/>
                <a:cs typeface="Roboto"/>
                <a:sym typeface="Roboto"/>
              </a:endParaRPr>
            </a:p>
            <a:p>
              <a:pPr indent="-292100" lvl="0" marL="457200" rtl="0" algn="l">
                <a:lnSpc>
                  <a:spcPct val="115000"/>
                </a:lnSpc>
                <a:spcBef>
                  <a:spcPts val="0"/>
                </a:spcBef>
                <a:spcAft>
                  <a:spcPts val="0"/>
                </a:spcAft>
                <a:buClr>
                  <a:srgbClr val="2B4A4A"/>
                </a:buClr>
                <a:buSzPts val="1000"/>
                <a:buFont typeface="Roboto"/>
                <a:buChar char="●"/>
              </a:pPr>
              <a:r>
                <a:rPr lang="en-GB" sz="1000">
                  <a:solidFill>
                    <a:srgbClr val="2B4A4A"/>
                  </a:solidFill>
                  <a:latin typeface="Roboto"/>
                  <a:ea typeface="Roboto"/>
                  <a:cs typeface="Roboto"/>
                  <a:sym typeface="Roboto"/>
                </a:rPr>
                <a:t>Purchase</a:t>
              </a:r>
              <a:endParaRPr sz="1000">
                <a:solidFill>
                  <a:srgbClr val="2B4A4A"/>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20" title="Screenshot 2026-06-01 182330.png"/>
          <p:cNvPicPr preferRelativeResize="0"/>
          <p:nvPr/>
        </p:nvPicPr>
        <p:blipFill>
          <a:blip r:embed="rId3">
            <a:alphaModFix/>
          </a:blip>
          <a:stretch>
            <a:fillRect/>
          </a:stretch>
        </p:blipFill>
        <p:spPr>
          <a:xfrm>
            <a:off x="0" y="0"/>
            <a:ext cx="2905601" cy="2715175"/>
          </a:xfrm>
          <a:prstGeom prst="rect">
            <a:avLst/>
          </a:prstGeom>
          <a:noFill/>
          <a:ln>
            <a:noFill/>
          </a:ln>
        </p:spPr>
      </p:pic>
      <p:pic>
        <p:nvPicPr>
          <p:cNvPr id="389" name="Google Shape;389;p20" title="Screenshot 2026-06-01 182337.png"/>
          <p:cNvPicPr preferRelativeResize="0"/>
          <p:nvPr/>
        </p:nvPicPr>
        <p:blipFill>
          <a:blip r:embed="rId4">
            <a:alphaModFix/>
          </a:blip>
          <a:stretch>
            <a:fillRect/>
          </a:stretch>
        </p:blipFill>
        <p:spPr>
          <a:xfrm>
            <a:off x="2905600" y="0"/>
            <a:ext cx="2404121" cy="2715174"/>
          </a:xfrm>
          <a:prstGeom prst="rect">
            <a:avLst/>
          </a:prstGeom>
          <a:noFill/>
          <a:ln>
            <a:noFill/>
          </a:ln>
        </p:spPr>
      </p:pic>
      <p:pic>
        <p:nvPicPr>
          <p:cNvPr id="390" name="Google Shape;390;p20" title="Screenshot 2026-06-01 182343.png"/>
          <p:cNvPicPr preferRelativeResize="0"/>
          <p:nvPr/>
        </p:nvPicPr>
        <p:blipFill>
          <a:blip r:embed="rId5">
            <a:alphaModFix/>
          </a:blip>
          <a:stretch>
            <a:fillRect/>
          </a:stretch>
        </p:blipFill>
        <p:spPr>
          <a:xfrm>
            <a:off x="5309725" y="0"/>
            <a:ext cx="2358774" cy="2715176"/>
          </a:xfrm>
          <a:prstGeom prst="rect">
            <a:avLst/>
          </a:prstGeom>
          <a:noFill/>
          <a:ln>
            <a:noFill/>
          </a:ln>
        </p:spPr>
      </p:pic>
      <p:pic>
        <p:nvPicPr>
          <p:cNvPr id="391" name="Google Shape;391;p20" title="Screenshot 2026-06-01 182350.png"/>
          <p:cNvPicPr preferRelativeResize="0"/>
          <p:nvPr/>
        </p:nvPicPr>
        <p:blipFill>
          <a:blip r:embed="rId6">
            <a:alphaModFix/>
          </a:blip>
          <a:stretch>
            <a:fillRect/>
          </a:stretch>
        </p:blipFill>
        <p:spPr>
          <a:xfrm>
            <a:off x="45825" y="2715175"/>
            <a:ext cx="2042725" cy="2428326"/>
          </a:xfrm>
          <a:prstGeom prst="rect">
            <a:avLst/>
          </a:prstGeom>
          <a:noFill/>
          <a:ln>
            <a:noFill/>
          </a:ln>
        </p:spPr>
      </p:pic>
      <p:pic>
        <p:nvPicPr>
          <p:cNvPr id="392" name="Google Shape;392;p20" title="Screenshot 2026-06-01 182356.png"/>
          <p:cNvPicPr preferRelativeResize="0"/>
          <p:nvPr/>
        </p:nvPicPr>
        <p:blipFill>
          <a:blip r:embed="rId7">
            <a:alphaModFix/>
          </a:blip>
          <a:stretch>
            <a:fillRect/>
          </a:stretch>
        </p:blipFill>
        <p:spPr>
          <a:xfrm>
            <a:off x="2088550" y="2715175"/>
            <a:ext cx="2025543" cy="2428325"/>
          </a:xfrm>
          <a:prstGeom prst="rect">
            <a:avLst/>
          </a:prstGeom>
          <a:noFill/>
          <a:ln>
            <a:noFill/>
          </a:ln>
        </p:spPr>
      </p:pic>
      <p:pic>
        <p:nvPicPr>
          <p:cNvPr id="393" name="Google Shape;393;p20" title="Screenshot 2026-06-01 182402.png"/>
          <p:cNvPicPr preferRelativeResize="0"/>
          <p:nvPr/>
        </p:nvPicPr>
        <p:blipFill>
          <a:blip r:embed="rId8">
            <a:alphaModFix/>
          </a:blip>
          <a:stretch>
            <a:fillRect/>
          </a:stretch>
        </p:blipFill>
        <p:spPr>
          <a:xfrm>
            <a:off x="4114101" y="2715175"/>
            <a:ext cx="2114882" cy="2428325"/>
          </a:xfrm>
          <a:prstGeom prst="rect">
            <a:avLst/>
          </a:prstGeom>
          <a:noFill/>
          <a:ln>
            <a:noFill/>
          </a:ln>
        </p:spPr>
      </p:pic>
      <p:pic>
        <p:nvPicPr>
          <p:cNvPr id="394" name="Google Shape;394;p20" title="Screenshot 2026-06-01 182405.png"/>
          <p:cNvPicPr preferRelativeResize="0"/>
          <p:nvPr/>
        </p:nvPicPr>
        <p:blipFill>
          <a:blip r:embed="rId9">
            <a:alphaModFix/>
          </a:blip>
          <a:stretch>
            <a:fillRect/>
          </a:stretch>
        </p:blipFill>
        <p:spPr>
          <a:xfrm>
            <a:off x="6228975" y="2715175"/>
            <a:ext cx="2905599" cy="2428325"/>
          </a:xfrm>
          <a:prstGeom prst="rect">
            <a:avLst/>
          </a:prstGeom>
          <a:noFill/>
          <a:ln>
            <a:noFill/>
          </a:ln>
        </p:spPr>
      </p:pic>
      <p:sp>
        <p:nvSpPr>
          <p:cNvPr id="395" name="Google Shape;395;p20"/>
          <p:cNvSpPr/>
          <p:nvPr/>
        </p:nvSpPr>
        <p:spPr>
          <a:xfrm>
            <a:off x="7733725" y="710650"/>
            <a:ext cx="1301700" cy="1490400"/>
          </a:xfrm>
          <a:prstGeom prst="foldedCorner">
            <a:avLst>
              <a:gd fmla="val 27374"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accent3"/>
                </a:solidFill>
                <a:latin typeface="Maven Pro"/>
                <a:ea typeface="Maven Pro"/>
                <a:cs typeface="Maven Pro"/>
                <a:sym typeface="Maven Pro"/>
              </a:rPr>
              <a:t>Second</a:t>
            </a:r>
            <a:r>
              <a:rPr b="1" lang="en-GB" sz="1600">
                <a:solidFill>
                  <a:schemeClr val="accent3"/>
                </a:solidFill>
                <a:latin typeface="Maven Pro"/>
                <a:ea typeface="Maven Pro"/>
                <a:cs typeface="Maven Pro"/>
                <a:sym typeface="Maven Pro"/>
              </a:rPr>
              <a:t> SQL File:</a:t>
            </a:r>
            <a:endParaRPr b="1" sz="1600">
              <a:solidFill>
                <a:schemeClr val="accent3"/>
              </a:solidFill>
              <a:latin typeface="Maven Pro"/>
              <a:ea typeface="Maven Pro"/>
              <a:cs typeface="Maven Pro"/>
              <a:sym typeface="Maven Pro"/>
            </a:endParaRPr>
          </a:p>
          <a:p>
            <a:pPr indent="0" lvl="0" marL="0" rtl="0" algn="ctr">
              <a:spcBef>
                <a:spcPts val="0"/>
              </a:spcBef>
              <a:spcAft>
                <a:spcPts val="0"/>
              </a:spcAft>
              <a:buNone/>
            </a:pPr>
            <a:r>
              <a:t/>
            </a:r>
            <a:endParaRPr b="1" sz="1800">
              <a:solidFill>
                <a:srgbClr val="122033"/>
              </a:solidFill>
              <a:latin typeface="Maven Pro"/>
              <a:ea typeface="Maven Pro"/>
              <a:cs typeface="Maven Pro"/>
              <a:sym typeface="Maven Pro"/>
            </a:endParaRPr>
          </a:p>
          <a:p>
            <a:pPr indent="0" lvl="0" marL="0" rtl="0" algn="ctr">
              <a:spcBef>
                <a:spcPts val="0"/>
              </a:spcBef>
              <a:spcAft>
                <a:spcPts val="0"/>
              </a:spcAft>
              <a:buNone/>
            </a:pPr>
            <a:r>
              <a:rPr lang="en-GB" sz="1100" u="sng">
                <a:solidFill>
                  <a:schemeClr val="accent3"/>
                </a:solidFill>
                <a:latin typeface="Maven Pro"/>
                <a:ea typeface="Maven Pro"/>
                <a:cs typeface="Maven Pro"/>
                <a:sym typeface="Maven Pro"/>
              </a:rPr>
              <a:t>funnel-project.</a:t>
            </a:r>
            <a:r>
              <a:rPr lang="en-GB" sz="1100" u="sng">
                <a:solidFill>
                  <a:schemeClr val="accent3"/>
                </a:solidFill>
                <a:latin typeface="Maven Pro"/>
                <a:ea typeface="Maven Pro"/>
                <a:cs typeface="Maven Pro"/>
                <a:sym typeface="Maven Pro"/>
              </a:rPr>
              <a:t>sql</a:t>
            </a:r>
            <a:endParaRPr b="1" sz="1500" u="sng">
              <a:solidFill>
                <a:schemeClr val="accent3"/>
              </a:solidFill>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grpSp>
        <p:nvGrpSpPr>
          <p:cNvPr id="400" name="Google Shape;400;p21"/>
          <p:cNvGrpSpPr/>
          <p:nvPr/>
        </p:nvGrpSpPr>
        <p:grpSpPr>
          <a:xfrm>
            <a:off x="633025" y="2473725"/>
            <a:ext cx="7481416" cy="2262000"/>
            <a:chOff x="1593011" y="2262974"/>
            <a:chExt cx="5957964" cy="750000"/>
          </a:xfrm>
        </p:grpSpPr>
        <p:sp>
          <p:nvSpPr>
            <p:cNvPr id="401" name="Google Shape;401;p21"/>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1"/>
            <p:cNvSpPr/>
            <p:nvPr/>
          </p:nvSpPr>
          <p:spPr>
            <a:xfrm flipH="1">
              <a:off x="2283025" y="2322575"/>
              <a:ext cx="1844400" cy="642600"/>
            </a:xfrm>
            <a:prstGeom prst="rect">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1"/>
            <p:cNvSpPr/>
            <p:nvPr/>
          </p:nvSpPr>
          <p:spPr>
            <a:xfrm rot="-5400000">
              <a:off x="3430246" y="2005995"/>
              <a:ext cx="643360" cy="1276499"/>
            </a:xfrm>
            <a:prstGeom prst="flowChartOffpageConnector">
              <a:avLst/>
            </a:prstGeom>
            <a:solidFill>
              <a:srgbClr val="2B4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a:off x="2342632" y="2399952"/>
              <a:ext cx="18444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200">
                  <a:solidFill>
                    <a:srgbClr val="FFFFFF"/>
                  </a:solidFill>
                  <a:latin typeface="Roboto Medium"/>
                  <a:ea typeface="Roboto Medium"/>
                  <a:cs typeface="Roboto Medium"/>
                  <a:sym typeface="Roboto Medium"/>
                </a:rPr>
                <a:t>What We Used It For:</a:t>
              </a:r>
              <a:endParaRPr sz="1200">
                <a:solidFill>
                  <a:srgbClr val="FFFFFF"/>
                </a:solidFill>
                <a:latin typeface="Roboto"/>
                <a:ea typeface="Roboto"/>
                <a:cs typeface="Roboto"/>
                <a:sym typeface="Roboto"/>
              </a:endParaRPr>
            </a:p>
          </p:txBody>
        </p:sp>
        <p:sp>
          <p:nvSpPr>
            <p:cNvPr id="405" name="Google Shape;405;p21"/>
            <p:cNvSpPr/>
            <p:nvPr/>
          </p:nvSpPr>
          <p:spPr>
            <a:xfrm>
              <a:off x="1593011" y="2262974"/>
              <a:ext cx="690000" cy="750000"/>
            </a:xfrm>
            <a:prstGeom prst="roundRect">
              <a:avLst>
                <a:gd fmla="val 16667" name="adj"/>
              </a:avLst>
            </a:prstGeom>
            <a:solidFill>
              <a:srgbClr val="2B4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solidFill>
                    <a:srgbClr val="FFFFFF"/>
                  </a:solidFill>
                  <a:latin typeface="Roboto"/>
                  <a:ea typeface="Roboto"/>
                  <a:cs typeface="Roboto"/>
                  <a:sym typeface="Roboto"/>
                </a:rPr>
                <a:t>02</a:t>
              </a:r>
              <a:endParaRPr b="1" sz="2600">
                <a:solidFill>
                  <a:srgbClr val="FFFFFF"/>
                </a:solidFill>
                <a:latin typeface="Roboto"/>
                <a:ea typeface="Roboto"/>
                <a:cs typeface="Roboto"/>
                <a:sym typeface="Roboto"/>
              </a:endParaRPr>
            </a:p>
          </p:txBody>
        </p:sp>
        <p:sp>
          <p:nvSpPr>
            <p:cNvPr id="406" name="Google Shape;406;p21"/>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GB" sz="1000">
                  <a:solidFill>
                    <a:srgbClr val="2B4A4A"/>
                  </a:solidFill>
                  <a:latin typeface="Roboto"/>
                  <a:ea typeface="Roboto"/>
                  <a:cs typeface="Roboto"/>
                  <a:sym typeface="Roboto"/>
                </a:rPr>
                <a:t>This view was used as the data source for the E-commerce Conversion Funnel chart. It allows the dashboard to show how users move from the beginning of a session to the final purchase step.</a:t>
              </a:r>
              <a:endParaRPr sz="1000">
                <a:solidFill>
                  <a:srgbClr val="2B4A4A"/>
                </a:solidFill>
                <a:latin typeface="Roboto"/>
                <a:ea typeface="Roboto"/>
                <a:cs typeface="Roboto"/>
                <a:sym typeface="Roboto"/>
              </a:endParaRPr>
            </a:p>
          </p:txBody>
        </p:sp>
      </p:grpSp>
      <p:sp>
        <p:nvSpPr>
          <p:cNvPr id="407" name="Google Shape;407;p21"/>
          <p:cNvSpPr/>
          <p:nvPr/>
        </p:nvSpPr>
        <p:spPr>
          <a:xfrm>
            <a:off x="3722888" y="678025"/>
            <a:ext cx="1301700" cy="1490400"/>
          </a:xfrm>
          <a:prstGeom prst="foldedCorner">
            <a:avLst>
              <a:gd fmla="val 27374"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accent3"/>
                </a:solidFill>
                <a:latin typeface="Maven Pro"/>
                <a:ea typeface="Maven Pro"/>
                <a:cs typeface="Maven Pro"/>
                <a:sym typeface="Maven Pro"/>
              </a:rPr>
              <a:t>Second SQL File:</a:t>
            </a:r>
            <a:endParaRPr b="1" sz="1600">
              <a:solidFill>
                <a:schemeClr val="accent3"/>
              </a:solidFill>
              <a:latin typeface="Maven Pro"/>
              <a:ea typeface="Maven Pro"/>
              <a:cs typeface="Maven Pro"/>
              <a:sym typeface="Maven Pro"/>
            </a:endParaRPr>
          </a:p>
          <a:p>
            <a:pPr indent="0" lvl="0" marL="0" rtl="0" algn="ctr">
              <a:spcBef>
                <a:spcPts val="0"/>
              </a:spcBef>
              <a:spcAft>
                <a:spcPts val="0"/>
              </a:spcAft>
              <a:buNone/>
            </a:pPr>
            <a:r>
              <a:t/>
            </a:r>
            <a:endParaRPr b="1" sz="1800">
              <a:solidFill>
                <a:srgbClr val="122033"/>
              </a:solidFill>
              <a:latin typeface="Maven Pro"/>
              <a:ea typeface="Maven Pro"/>
              <a:cs typeface="Maven Pro"/>
              <a:sym typeface="Maven Pro"/>
            </a:endParaRPr>
          </a:p>
          <a:p>
            <a:pPr indent="0" lvl="0" marL="0" rtl="0" algn="ctr">
              <a:spcBef>
                <a:spcPts val="0"/>
              </a:spcBef>
              <a:spcAft>
                <a:spcPts val="0"/>
              </a:spcAft>
              <a:buNone/>
            </a:pPr>
            <a:r>
              <a:rPr lang="en-GB" sz="1100" u="sng">
                <a:solidFill>
                  <a:schemeClr val="accent3"/>
                </a:solidFill>
                <a:latin typeface="Maven Pro"/>
                <a:ea typeface="Maven Pro"/>
                <a:cs typeface="Maven Pro"/>
                <a:sym typeface="Maven Pro"/>
              </a:rPr>
              <a:t>funnel-project.sql</a:t>
            </a:r>
            <a:endParaRPr b="1" sz="1500" u="sng">
              <a:solidFill>
                <a:schemeClr val="accent3"/>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Looker Studio Dashboard Overview </a:t>
            </a:r>
            <a:endParaRPr>
              <a:solidFill>
                <a:schemeClr val="lt1"/>
              </a:solidFill>
            </a:endParaRPr>
          </a:p>
        </p:txBody>
      </p:sp>
      <p:sp>
        <p:nvSpPr>
          <p:cNvPr id="413" name="Google Shape;413;p2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The Looker Studio dashboard was designed to present the main e-commerce performance indicators in a clear and interactive format. It includes KPI cards, a conversion funnel, trend charts, revenue analysis, landing page performance, and device-based conversion insights.</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1200"/>
              </a:spcAft>
              <a:buNone/>
            </a:pPr>
            <a:r>
              <a:rPr lang="en-GB">
                <a:solidFill>
                  <a:schemeClr val="lt1"/>
                </a:solidFill>
              </a:rPr>
              <a:t>The dashboard allows users to filter the data by session date, landing page, traffic source, medium, campaign, device category, language, and operating system.</a:t>
            </a:r>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3"/>
          <p:cNvSpPr/>
          <p:nvPr/>
        </p:nvSpPr>
        <p:spPr>
          <a:xfrm>
            <a:off x="6158738" y="1243475"/>
            <a:ext cx="2673300" cy="1925400"/>
          </a:xfrm>
          <a:prstGeom prst="foldedCorner">
            <a:avLst>
              <a:gd fmla="val 27374"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accent3"/>
                </a:solidFill>
                <a:latin typeface="Maven Pro"/>
                <a:ea typeface="Maven Pro"/>
                <a:cs typeface="Maven Pro"/>
                <a:sym typeface="Maven Pro"/>
              </a:rPr>
              <a:t>Looker Studio</a:t>
            </a:r>
            <a:r>
              <a:rPr b="1" lang="en-GB" sz="1600">
                <a:solidFill>
                  <a:schemeClr val="accent3"/>
                </a:solidFill>
                <a:latin typeface="Maven Pro"/>
                <a:ea typeface="Maven Pro"/>
                <a:cs typeface="Maven Pro"/>
                <a:sym typeface="Maven Pro"/>
              </a:rPr>
              <a:t> Dashboard:</a:t>
            </a:r>
            <a:endParaRPr b="1" sz="1600">
              <a:solidFill>
                <a:schemeClr val="accent3"/>
              </a:solidFill>
              <a:latin typeface="Maven Pro"/>
              <a:ea typeface="Maven Pro"/>
              <a:cs typeface="Maven Pro"/>
              <a:sym typeface="Maven Pro"/>
            </a:endParaRPr>
          </a:p>
          <a:p>
            <a:pPr indent="0" lvl="0" marL="0" rtl="0" algn="ctr">
              <a:spcBef>
                <a:spcPts val="0"/>
              </a:spcBef>
              <a:spcAft>
                <a:spcPts val="0"/>
              </a:spcAft>
              <a:buNone/>
            </a:pPr>
            <a:r>
              <a:t/>
            </a:r>
            <a:endParaRPr b="1" sz="1800">
              <a:solidFill>
                <a:srgbClr val="122033"/>
              </a:solidFill>
              <a:latin typeface="Maven Pro"/>
              <a:ea typeface="Maven Pro"/>
              <a:cs typeface="Maven Pro"/>
              <a:sym typeface="Maven Pro"/>
            </a:endParaRPr>
          </a:p>
          <a:p>
            <a:pPr indent="0" lvl="0" marL="0" rtl="0" algn="ctr">
              <a:spcBef>
                <a:spcPts val="0"/>
              </a:spcBef>
              <a:spcAft>
                <a:spcPts val="0"/>
              </a:spcAft>
              <a:buNone/>
            </a:pPr>
            <a:r>
              <a:rPr lang="en-GB" sz="1100" u="sng">
                <a:solidFill>
                  <a:schemeClr val="accent3"/>
                </a:solidFill>
                <a:latin typeface="Maven Pro"/>
                <a:ea typeface="Maven Pro"/>
                <a:cs typeface="Maven Pro"/>
                <a:sym typeface="Maven Pro"/>
              </a:rPr>
              <a:t>project_last_-_Günışığı_Aydoğan.pdf</a:t>
            </a:r>
            <a:endParaRPr b="1" sz="1500" u="sng">
              <a:solidFill>
                <a:schemeClr val="accent3"/>
              </a:solidFill>
              <a:latin typeface="Maven Pro"/>
              <a:ea typeface="Maven Pro"/>
              <a:cs typeface="Maven Pro"/>
              <a:sym typeface="Maven Pro"/>
            </a:endParaRPr>
          </a:p>
        </p:txBody>
      </p:sp>
      <p:pic>
        <p:nvPicPr>
          <p:cNvPr id="419" name="Google Shape;419;p23" title="Screenshot 2026-06-01 205518.png"/>
          <p:cNvPicPr preferRelativeResize="0"/>
          <p:nvPr/>
        </p:nvPicPr>
        <p:blipFill>
          <a:blip r:embed="rId3">
            <a:alphaModFix/>
          </a:blip>
          <a:stretch>
            <a:fillRect/>
          </a:stretch>
        </p:blipFill>
        <p:spPr>
          <a:xfrm>
            <a:off x="0" y="16550"/>
            <a:ext cx="5843525"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grpSp>
        <p:nvGrpSpPr>
          <p:cNvPr id="424" name="Google Shape;424;p24"/>
          <p:cNvGrpSpPr/>
          <p:nvPr/>
        </p:nvGrpSpPr>
        <p:grpSpPr>
          <a:xfrm>
            <a:off x="-84827" y="1675225"/>
            <a:ext cx="1826828" cy="2626425"/>
            <a:chOff x="743695" y="283725"/>
            <a:chExt cx="2465355" cy="4076400"/>
          </a:xfrm>
        </p:grpSpPr>
        <p:sp>
          <p:nvSpPr>
            <p:cNvPr id="425" name="Google Shape;425;p24"/>
            <p:cNvSpPr/>
            <p:nvPr/>
          </p:nvSpPr>
          <p:spPr>
            <a:xfrm>
              <a:off x="1178650" y="283725"/>
              <a:ext cx="2030400" cy="4076400"/>
            </a:xfrm>
            <a:prstGeom prst="rect">
              <a:avLst/>
            </a:prstGeom>
            <a:solidFill>
              <a:srgbClr val="1B786F"/>
            </a:solidFill>
            <a:ln>
              <a:noFill/>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26" name="Google Shape;426;p24"/>
            <p:cNvSpPr/>
            <p:nvPr/>
          </p:nvSpPr>
          <p:spPr>
            <a:xfrm>
              <a:off x="1118224" y="341749"/>
              <a:ext cx="2048100" cy="2490600"/>
            </a:xfrm>
            <a:prstGeom prst="rect">
              <a:avLst/>
            </a:prstGeom>
            <a:solidFill>
              <a:srgbClr val="FFFFFF"/>
            </a:solidFill>
            <a:ln cap="flat" cmpd="sng" w="13475">
              <a:solidFill>
                <a:srgbClr val="1D7E75"/>
              </a:solidFill>
              <a:prstDash val="solid"/>
              <a:round/>
              <a:headEnd len="sm" w="sm" type="none"/>
              <a:tailEnd len="sm" w="sm" type="none"/>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27" name="Google Shape;427;p24"/>
            <p:cNvSpPr/>
            <p:nvPr/>
          </p:nvSpPr>
          <p:spPr>
            <a:xfrm>
              <a:off x="1225927" y="1633702"/>
              <a:ext cx="1815000" cy="608100"/>
            </a:xfrm>
            <a:prstGeom prst="rect">
              <a:avLst/>
            </a:prstGeom>
            <a:noFill/>
            <a:ln>
              <a:noFill/>
            </a:ln>
          </p:spPr>
          <p:txBody>
            <a:bodyPr anchorCtr="0" anchor="ctr" bIns="64700" lIns="64700" spcFirstLastPara="1" rIns="64700" wrap="square" tIns="64700">
              <a:noAutofit/>
            </a:bodyPr>
            <a:lstStyle/>
            <a:p>
              <a:pPr indent="0" lvl="0" marL="0" rtl="0" algn="ctr">
                <a:spcBef>
                  <a:spcPts val="0"/>
                </a:spcBef>
                <a:spcAft>
                  <a:spcPts val="0"/>
                </a:spcAft>
                <a:buNone/>
              </a:pPr>
              <a:r>
                <a:rPr lang="en-GB" sz="1049">
                  <a:solidFill>
                    <a:srgbClr val="1D7E75"/>
                  </a:solidFill>
                  <a:latin typeface="Roboto Medium"/>
                  <a:ea typeface="Roboto Medium"/>
                  <a:cs typeface="Roboto Medium"/>
                  <a:sym typeface="Roboto Medium"/>
                </a:rPr>
                <a:t>Total Sessions</a:t>
              </a:r>
              <a:endParaRPr sz="1049">
                <a:solidFill>
                  <a:srgbClr val="1D7E75"/>
                </a:solidFill>
                <a:latin typeface="Roboto Medium"/>
                <a:ea typeface="Roboto Medium"/>
                <a:cs typeface="Roboto Medium"/>
                <a:sym typeface="Roboto Medium"/>
              </a:endParaRPr>
            </a:p>
          </p:txBody>
        </p:sp>
        <p:sp>
          <p:nvSpPr>
            <p:cNvPr id="428" name="Google Shape;428;p24"/>
            <p:cNvSpPr/>
            <p:nvPr/>
          </p:nvSpPr>
          <p:spPr>
            <a:xfrm>
              <a:off x="1286347" y="723743"/>
              <a:ext cx="1815000" cy="675000"/>
            </a:xfrm>
            <a:prstGeom prst="rect">
              <a:avLst/>
            </a:prstGeom>
            <a:noFill/>
            <a:ln>
              <a:noFill/>
            </a:ln>
          </p:spPr>
          <p:txBody>
            <a:bodyPr anchorCtr="0" anchor="ctr" bIns="64700" lIns="64700" spcFirstLastPara="1" rIns="64700" wrap="square" tIns="64700">
              <a:noAutofit/>
            </a:bodyPr>
            <a:lstStyle/>
            <a:p>
              <a:pPr indent="0" lvl="0" marL="0" rtl="0" algn="ctr">
                <a:spcBef>
                  <a:spcPts val="0"/>
                </a:spcBef>
                <a:spcAft>
                  <a:spcPts val="0"/>
                </a:spcAft>
                <a:buNone/>
              </a:pPr>
              <a:r>
                <a:rPr b="1" lang="en-GB" sz="2431">
                  <a:solidFill>
                    <a:srgbClr val="1D7E75"/>
                  </a:solidFill>
                  <a:latin typeface="Roboto"/>
                  <a:ea typeface="Roboto"/>
                  <a:cs typeface="Roboto"/>
                  <a:sym typeface="Roboto"/>
                </a:rPr>
                <a:t>360,129</a:t>
              </a:r>
              <a:endParaRPr sz="2431">
                <a:solidFill>
                  <a:srgbClr val="1D7E75"/>
                </a:solidFill>
                <a:latin typeface="Roboto Thin"/>
                <a:ea typeface="Roboto Thin"/>
                <a:cs typeface="Roboto Thin"/>
                <a:sym typeface="Roboto Thin"/>
              </a:endParaRPr>
            </a:p>
          </p:txBody>
        </p:sp>
        <p:sp>
          <p:nvSpPr>
            <p:cNvPr id="429" name="Google Shape;429;p24"/>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30" name="Google Shape;430;p24"/>
            <p:cNvSpPr/>
            <p:nvPr/>
          </p:nvSpPr>
          <p:spPr>
            <a:xfrm>
              <a:off x="743695" y="3172441"/>
              <a:ext cx="2405100" cy="1085400"/>
            </a:xfrm>
            <a:prstGeom prst="rect">
              <a:avLst/>
            </a:prstGeom>
            <a:noFill/>
            <a:ln>
              <a:noFill/>
            </a:ln>
          </p:spPr>
          <p:txBody>
            <a:bodyPr anchorCtr="0" anchor="t" bIns="64700" lIns="64700" spcFirstLastPara="1" rIns="64700" wrap="square" tIns="64700">
              <a:noAutofit/>
            </a:bodyPr>
            <a:lstStyle/>
            <a:p>
              <a:pPr indent="0" lvl="0" marL="323579" rtl="0" algn="l">
                <a:lnSpc>
                  <a:spcPct val="115000"/>
                </a:lnSpc>
                <a:spcBef>
                  <a:spcPts val="0"/>
                </a:spcBef>
                <a:spcAft>
                  <a:spcPts val="0"/>
                </a:spcAft>
                <a:buNone/>
              </a:pPr>
              <a:r>
                <a:rPr lang="en-GB" sz="800">
                  <a:solidFill>
                    <a:srgbClr val="FFFFFF"/>
                  </a:solidFill>
                  <a:latin typeface="Roboto"/>
                  <a:ea typeface="Roboto"/>
                  <a:cs typeface="Roboto"/>
                  <a:sym typeface="Roboto"/>
                </a:rPr>
                <a:t>Shows the total number of website sessions. </a:t>
              </a:r>
              <a:endParaRPr sz="800">
                <a:solidFill>
                  <a:srgbClr val="FFFFFF"/>
                </a:solidFill>
                <a:latin typeface="Roboto"/>
                <a:ea typeface="Roboto"/>
                <a:cs typeface="Roboto"/>
                <a:sym typeface="Roboto"/>
              </a:endParaRPr>
            </a:p>
          </p:txBody>
        </p:sp>
      </p:grpSp>
      <p:grpSp>
        <p:nvGrpSpPr>
          <p:cNvPr id="431" name="Google Shape;431;p24"/>
          <p:cNvGrpSpPr/>
          <p:nvPr/>
        </p:nvGrpSpPr>
        <p:grpSpPr>
          <a:xfrm>
            <a:off x="1785551" y="1675225"/>
            <a:ext cx="1663855" cy="2626425"/>
            <a:chOff x="850310" y="283725"/>
            <a:chExt cx="2358740" cy="4076400"/>
          </a:xfrm>
        </p:grpSpPr>
        <p:sp>
          <p:nvSpPr>
            <p:cNvPr id="432" name="Google Shape;432;p24"/>
            <p:cNvSpPr/>
            <p:nvPr/>
          </p:nvSpPr>
          <p:spPr>
            <a:xfrm>
              <a:off x="1178650" y="283725"/>
              <a:ext cx="2030400" cy="4076400"/>
            </a:xfrm>
            <a:prstGeom prst="rect">
              <a:avLst/>
            </a:prstGeom>
            <a:solidFill>
              <a:srgbClr val="1B786F"/>
            </a:solidFill>
            <a:ln>
              <a:noFill/>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33" name="Google Shape;433;p24"/>
            <p:cNvSpPr/>
            <p:nvPr/>
          </p:nvSpPr>
          <p:spPr>
            <a:xfrm>
              <a:off x="1118224" y="341749"/>
              <a:ext cx="2048100" cy="2490600"/>
            </a:xfrm>
            <a:prstGeom prst="rect">
              <a:avLst/>
            </a:prstGeom>
            <a:solidFill>
              <a:srgbClr val="FFFFFF"/>
            </a:solidFill>
            <a:ln cap="flat" cmpd="sng" w="13500">
              <a:solidFill>
                <a:srgbClr val="1D7E75"/>
              </a:solidFill>
              <a:prstDash val="solid"/>
              <a:round/>
              <a:headEnd len="sm" w="sm" type="none"/>
              <a:tailEnd len="sm" w="sm" type="none"/>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34" name="Google Shape;434;p24"/>
            <p:cNvSpPr/>
            <p:nvPr/>
          </p:nvSpPr>
          <p:spPr>
            <a:xfrm>
              <a:off x="1268726" y="1633702"/>
              <a:ext cx="1815000" cy="608100"/>
            </a:xfrm>
            <a:prstGeom prst="rect">
              <a:avLst/>
            </a:prstGeom>
            <a:noFill/>
            <a:ln>
              <a:noFill/>
            </a:ln>
          </p:spPr>
          <p:txBody>
            <a:bodyPr anchorCtr="0" anchor="ctr" bIns="64700" lIns="64700" spcFirstLastPara="1" rIns="64700" wrap="square" tIns="64700">
              <a:noAutofit/>
            </a:bodyPr>
            <a:lstStyle/>
            <a:p>
              <a:pPr indent="0" lvl="0" marL="0" rtl="0" algn="ctr">
                <a:spcBef>
                  <a:spcPts val="0"/>
                </a:spcBef>
                <a:spcAft>
                  <a:spcPts val="0"/>
                </a:spcAft>
                <a:buNone/>
              </a:pPr>
              <a:r>
                <a:rPr lang="en-GB" sz="1049">
                  <a:solidFill>
                    <a:srgbClr val="1D7E75"/>
                  </a:solidFill>
                  <a:latin typeface="Roboto Medium"/>
                  <a:ea typeface="Roboto Medium"/>
                  <a:cs typeface="Roboto Medium"/>
                  <a:sym typeface="Roboto Medium"/>
                </a:rPr>
                <a:t>Total Purchases</a:t>
              </a:r>
              <a:endParaRPr sz="1049">
                <a:solidFill>
                  <a:srgbClr val="1D7E75"/>
                </a:solidFill>
                <a:latin typeface="Roboto Medium"/>
                <a:ea typeface="Roboto Medium"/>
                <a:cs typeface="Roboto Medium"/>
                <a:sym typeface="Roboto Medium"/>
              </a:endParaRPr>
            </a:p>
          </p:txBody>
        </p:sp>
        <p:sp>
          <p:nvSpPr>
            <p:cNvPr id="435" name="Google Shape;435;p24"/>
            <p:cNvSpPr/>
            <p:nvPr/>
          </p:nvSpPr>
          <p:spPr>
            <a:xfrm>
              <a:off x="1225929" y="774418"/>
              <a:ext cx="1815000" cy="675000"/>
            </a:xfrm>
            <a:prstGeom prst="rect">
              <a:avLst/>
            </a:prstGeom>
            <a:noFill/>
            <a:ln>
              <a:noFill/>
            </a:ln>
          </p:spPr>
          <p:txBody>
            <a:bodyPr anchorCtr="0" anchor="ctr" bIns="64700" lIns="64700" spcFirstLastPara="1" rIns="64700" wrap="square" tIns="64700">
              <a:noAutofit/>
            </a:bodyPr>
            <a:lstStyle/>
            <a:p>
              <a:pPr indent="0" lvl="0" marL="0" rtl="0" algn="ctr">
                <a:spcBef>
                  <a:spcPts val="0"/>
                </a:spcBef>
                <a:spcAft>
                  <a:spcPts val="0"/>
                </a:spcAft>
                <a:buNone/>
              </a:pPr>
              <a:r>
                <a:rPr b="1" lang="en-GB" sz="2431">
                  <a:solidFill>
                    <a:srgbClr val="1D7E75"/>
                  </a:solidFill>
                  <a:latin typeface="Roboto"/>
                  <a:ea typeface="Roboto"/>
                  <a:cs typeface="Roboto"/>
                  <a:sym typeface="Roboto"/>
                </a:rPr>
                <a:t>4,848</a:t>
              </a:r>
              <a:endParaRPr sz="2431">
                <a:solidFill>
                  <a:srgbClr val="1D7E75"/>
                </a:solidFill>
                <a:latin typeface="Roboto Thin"/>
                <a:ea typeface="Roboto Thin"/>
                <a:cs typeface="Roboto Thin"/>
                <a:sym typeface="Roboto Thin"/>
              </a:endParaRPr>
            </a:p>
          </p:txBody>
        </p:sp>
        <p:sp>
          <p:nvSpPr>
            <p:cNvPr id="436" name="Google Shape;436;p24"/>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64700" lIns="64700" spcFirstLastPara="1" rIns="64700" wrap="square" tIns="64700">
              <a:noAutofit/>
            </a:bodyPr>
            <a:lstStyle/>
            <a:p>
              <a:pPr indent="0" lvl="0" marL="0" rtl="0" algn="l">
                <a:spcBef>
                  <a:spcPts val="0"/>
                </a:spcBef>
                <a:spcAft>
                  <a:spcPts val="0"/>
                </a:spcAft>
                <a:buNone/>
              </a:pPr>
              <a:r>
                <a:t/>
              </a:r>
              <a:endParaRPr/>
            </a:p>
          </p:txBody>
        </p:sp>
        <p:sp>
          <p:nvSpPr>
            <p:cNvPr id="437" name="Google Shape;437;p24"/>
            <p:cNvSpPr/>
            <p:nvPr/>
          </p:nvSpPr>
          <p:spPr>
            <a:xfrm>
              <a:off x="850310" y="3172441"/>
              <a:ext cx="2298300" cy="1085400"/>
            </a:xfrm>
            <a:prstGeom prst="rect">
              <a:avLst/>
            </a:prstGeom>
            <a:noFill/>
            <a:ln>
              <a:noFill/>
            </a:ln>
          </p:spPr>
          <p:txBody>
            <a:bodyPr anchorCtr="0" anchor="t" bIns="64700" lIns="64700" spcFirstLastPara="1" rIns="64700" wrap="square" tIns="64700">
              <a:noAutofit/>
            </a:bodyPr>
            <a:lstStyle/>
            <a:p>
              <a:pPr indent="0" lvl="0" marL="323567" rtl="0" algn="l">
                <a:lnSpc>
                  <a:spcPct val="115000"/>
                </a:lnSpc>
                <a:spcBef>
                  <a:spcPts val="0"/>
                </a:spcBef>
                <a:spcAft>
                  <a:spcPts val="0"/>
                </a:spcAft>
                <a:buNone/>
              </a:pPr>
              <a:r>
                <a:rPr lang="en-GB" sz="800">
                  <a:solidFill>
                    <a:srgbClr val="FFFFFF"/>
                  </a:solidFill>
                  <a:latin typeface="Roboto"/>
                  <a:ea typeface="Roboto"/>
                  <a:cs typeface="Roboto"/>
                  <a:sym typeface="Roboto"/>
                </a:rPr>
                <a:t>Shows the number of sessions that ended with a purchase.</a:t>
              </a:r>
              <a:endParaRPr sz="800">
                <a:solidFill>
                  <a:srgbClr val="FFFFFF"/>
                </a:solidFill>
                <a:latin typeface="Roboto"/>
                <a:ea typeface="Roboto"/>
                <a:cs typeface="Roboto"/>
                <a:sym typeface="Roboto"/>
              </a:endParaRPr>
            </a:p>
          </p:txBody>
        </p:sp>
      </p:grpSp>
      <p:grpSp>
        <p:nvGrpSpPr>
          <p:cNvPr id="438" name="Google Shape;438;p24"/>
          <p:cNvGrpSpPr/>
          <p:nvPr/>
        </p:nvGrpSpPr>
        <p:grpSpPr>
          <a:xfrm>
            <a:off x="7385773" y="1700900"/>
            <a:ext cx="1435285" cy="2714475"/>
            <a:chOff x="621552" y="283725"/>
            <a:chExt cx="2587498" cy="4076400"/>
          </a:xfrm>
        </p:grpSpPr>
        <p:sp>
          <p:nvSpPr>
            <p:cNvPr id="439" name="Google Shape;439;p24"/>
            <p:cNvSpPr/>
            <p:nvPr/>
          </p:nvSpPr>
          <p:spPr>
            <a:xfrm>
              <a:off x="1178650" y="283725"/>
              <a:ext cx="2030400" cy="4076400"/>
            </a:xfrm>
            <a:prstGeom prst="rect">
              <a:avLst/>
            </a:prstGeom>
            <a:solidFill>
              <a:srgbClr val="1B786F"/>
            </a:solidFill>
            <a:ln>
              <a:noFill/>
            </a:ln>
          </p:spPr>
          <p:txBody>
            <a:bodyPr anchorCtr="0" anchor="ctr" bIns="66875" lIns="66875" spcFirstLastPara="1" rIns="66875" wrap="square" tIns="66875">
              <a:noAutofit/>
            </a:bodyPr>
            <a:lstStyle/>
            <a:p>
              <a:pPr indent="0" lvl="0" marL="0" rtl="0" algn="l">
                <a:spcBef>
                  <a:spcPts val="0"/>
                </a:spcBef>
                <a:spcAft>
                  <a:spcPts val="0"/>
                </a:spcAft>
                <a:buNone/>
              </a:pPr>
              <a:r>
                <a:t/>
              </a:r>
              <a:endParaRPr/>
            </a:p>
          </p:txBody>
        </p:sp>
        <p:sp>
          <p:nvSpPr>
            <p:cNvPr id="440" name="Google Shape;440;p24"/>
            <p:cNvSpPr/>
            <p:nvPr/>
          </p:nvSpPr>
          <p:spPr>
            <a:xfrm>
              <a:off x="1118224" y="341749"/>
              <a:ext cx="2048100" cy="2490600"/>
            </a:xfrm>
            <a:prstGeom prst="rect">
              <a:avLst/>
            </a:prstGeom>
            <a:solidFill>
              <a:srgbClr val="FFFFFF"/>
            </a:solidFill>
            <a:ln cap="flat" cmpd="sng" w="13925">
              <a:solidFill>
                <a:srgbClr val="1D7E75"/>
              </a:solidFill>
              <a:prstDash val="solid"/>
              <a:round/>
              <a:headEnd len="sm" w="sm" type="none"/>
              <a:tailEnd len="sm" w="sm" type="none"/>
            </a:ln>
          </p:spPr>
          <p:txBody>
            <a:bodyPr anchorCtr="0" anchor="ctr" bIns="66875" lIns="66875" spcFirstLastPara="1" rIns="66875" wrap="square" tIns="66875">
              <a:noAutofit/>
            </a:bodyPr>
            <a:lstStyle/>
            <a:p>
              <a:pPr indent="0" lvl="0" marL="0" rtl="0" algn="l">
                <a:spcBef>
                  <a:spcPts val="0"/>
                </a:spcBef>
                <a:spcAft>
                  <a:spcPts val="0"/>
                </a:spcAft>
                <a:buNone/>
              </a:pPr>
              <a:r>
                <a:t/>
              </a:r>
              <a:endParaRPr/>
            </a:p>
          </p:txBody>
        </p:sp>
        <p:sp>
          <p:nvSpPr>
            <p:cNvPr id="441" name="Google Shape;441;p24"/>
            <p:cNvSpPr/>
            <p:nvPr/>
          </p:nvSpPr>
          <p:spPr>
            <a:xfrm>
              <a:off x="1232751" y="1697654"/>
              <a:ext cx="1815000" cy="608100"/>
            </a:xfrm>
            <a:prstGeom prst="rect">
              <a:avLst/>
            </a:prstGeom>
            <a:noFill/>
            <a:ln>
              <a:noFill/>
            </a:ln>
          </p:spPr>
          <p:txBody>
            <a:bodyPr anchorCtr="0" anchor="ctr" bIns="66875" lIns="66875" spcFirstLastPara="1" rIns="66875" wrap="square" tIns="66875">
              <a:noAutofit/>
            </a:bodyPr>
            <a:lstStyle/>
            <a:p>
              <a:pPr indent="0" lvl="0" marL="0" rtl="0" algn="ctr">
                <a:spcBef>
                  <a:spcPts val="0"/>
                </a:spcBef>
                <a:spcAft>
                  <a:spcPts val="0"/>
                </a:spcAft>
                <a:buNone/>
              </a:pPr>
              <a:r>
                <a:rPr lang="en-GB" sz="1000">
                  <a:solidFill>
                    <a:srgbClr val="1D7E75"/>
                  </a:solidFill>
                  <a:latin typeface="Roboto Medium"/>
                  <a:ea typeface="Roboto Medium"/>
                  <a:cs typeface="Roboto Medium"/>
                  <a:sym typeface="Roboto Medium"/>
                </a:rPr>
                <a:t>Average Order Value</a:t>
              </a:r>
              <a:endParaRPr sz="1000">
                <a:solidFill>
                  <a:srgbClr val="1D7E75"/>
                </a:solidFill>
                <a:latin typeface="Roboto Medium"/>
                <a:ea typeface="Roboto Medium"/>
                <a:cs typeface="Roboto Medium"/>
                <a:sym typeface="Roboto Medium"/>
              </a:endParaRPr>
            </a:p>
          </p:txBody>
        </p:sp>
        <p:sp>
          <p:nvSpPr>
            <p:cNvPr id="442" name="Google Shape;442;p24"/>
            <p:cNvSpPr/>
            <p:nvPr/>
          </p:nvSpPr>
          <p:spPr>
            <a:xfrm>
              <a:off x="1286333" y="986725"/>
              <a:ext cx="1815000" cy="675000"/>
            </a:xfrm>
            <a:prstGeom prst="rect">
              <a:avLst/>
            </a:prstGeom>
            <a:noFill/>
            <a:ln>
              <a:noFill/>
            </a:ln>
          </p:spPr>
          <p:txBody>
            <a:bodyPr anchorCtr="0" anchor="ctr" bIns="66875" lIns="66875" spcFirstLastPara="1" rIns="66875" wrap="square" tIns="66875">
              <a:noAutofit/>
            </a:bodyPr>
            <a:lstStyle/>
            <a:p>
              <a:pPr indent="0" lvl="0" marL="0" rtl="0" algn="ctr">
                <a:spcBef>
                  <a:spcPts val="0"/>
                </a:spcBef>
                <a:spcAft>
                  <a:spcPts val="0"/>
                </a:spcAft>
                <a:buNone/>
              </a:pPr>
              <a:r>
                <a:rPr b="1" lang="en-GB" sz="2426">
                  <a:solidFill>
                    <a:srgbClr val="1D7E75"/>
                  </a:solidFill>
                  <a:latin typeface="Roboto"/>
                  <a:ea typeface="Roboto"/>
                  <a:cs typeface="Roboto"/>
                  <a:sym typeface="Roboto"/>
                </a:rPr>
                <a:t>$2.16</a:t>
              </a:r>
              <a:endParaRPr sz="2426">
                <a:solidFill>
                  <a:srgbClr val="1D7E75"/>
                </a:solidFill>
                <a:latin typeface="Roboto Thin"/>
                <a:ea typeface="Roboto Thin"/>
                <a:cs typeface="Roboto Thin"/>
                <a:sym typeface="Roboto Thin"/>
              </a:endParaRPr>
            </a:p>
          </p:txBody>
        </p:sp>
        <p:sp>
          <p:nvSpPr>
            <p:cNvPr id="443" name="Google Shape;443;p24"/>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66875" lIns="66875" spcFirstLastPara="1" rIns="66875" wrap="square" tIns="66875">
              <a:noAutofit/>
            </a:bodyPr>
            <a:lstStyle/>
            <a:p>
              <a:pPr indent="0" lvl="0" marL="0" rtl="0" algn="l">
                <a:spcBef>
                  <a:spcPts val="0"/>
                </a:spcBef>
                <a:spcAft>
                  <a:spcPts val="0"/>
                </a:spcAft>
                <a:buNone/>
              </a:pPr>
              <a:r>
                <a:t/>
              </a:r>
              <a:endParaRPr/>
            </a:p>
          </p:txBody>
        </p:sp>
        <p:sp>
          <p:nvSpPr>
            <p:cNvPr id="444" name="Google Shape;444;p24"/>
            <p:cNvSpPr/>
            <p:nvPr/>
          </p:nvSpPr>
          <p:spPr>
            <a:xfrm>
              <a:off x="621552" y="3172447"/>
              <a:ext cx="2527200" cy="1085400"/>
            </a:xfrm>
            <a:prstGeom prst="rect">
              <a:avLst/>
            </a:prstGeom>
            <a:noFill/>
            <a:ln>
              <a:noFill/>
            </a:ln>
          </p:spPr>
          <p:txBody>
            <a:bodyPr anchorCtr="0" anchor="t" bIns="66875" lIns="66875" spcFirstLastPara="1" rIns="66875" wrap="square" tIns="66875">
              <a:noAutofit/>
            </a:bodyPr>
            <a:lstStyle/>
            <a:p>
              <a:pPr indent="0" lvl="0" marL="334419" rtl="0" algn="l">
                <a:lnSpc>
                  <a:spcPct val="115000"/>
                </a:lnSpc>
                <a:spcBef>
                  <a:spcPts val="0"/>
                </a:spcBef>
                <a:spcAft>
                  <a:spcPts val="0"/>
                </a:spcAft>
                <a:buNone/>
              </a:pPr>
              <a:r>
                <a:rPr lang="en-GB" sz="800">
                  <a:solidFill>
                    <a:srgbClr val="FFFFFF"/>
                  </a:solidFill>
                  <a:latin typeface="Roboto"/>
                  <a:ea typeface="Roboto"/>
                  <a:cs typeface="Roboto"/>
                  <a:sym typeface="Roboto"/>
                </a:rPr>
                <a:t>Shows the average revenue generated per transaction.</a:t>
              </a:r>
              <a:endParaRPr sz="800">
                <a:solidFill>
                  <a:srgbClr val="FFFFFF"/>
                </a:solidFill>
                <a:latin typeface="Roboto"/>
                <a:ea typeface="Roboto"/>
                <a:cs typeface="Roboto"/>
                <a:sym typeface="Roboto"/>
              </a:endParaRPr>
            </a:p>
          </p:txBody>
        </p:sp>
      </p:grpSp>
      <p:pic>
        <p:nvPicPr>
          <p:cNvPr id="445" name="Google Shape;445;p24" title="Screenshot 2026-06-01 183129.png"/>
          <p:cNvPicPr preferRelativeResize="0"/>
          <p:nvPr/>
        </p:nvPicPr>
        <p:blipFill>
          <a:blip r:embed="rId3">
            <a:alphaModFix/>
          </a:blip>
          <a:stretch>
            <a:fillRect/>
          </a:stretch>
        </p:blipFill>
        <p:spPr>
          <a:xfrm>
            <a:off x="192700" y="444300"/>
            <a:ext cx="8758575" cy="1013450"/>
          </a:xfrm>
          <a:prstGeom prst="rect">
            <a:avLst/>
          </a:prstGeom>
          <a:noFill/>
          <a:ln>
            <a:noFill/>
          </a:ln>
        </p:spPr>
      </p:pic>
      <p:grpSp>
        <p:nvGrpSpPr>
          <p:cNvPr id="446" name="Google Shape;446;p24"/>
          <p:cNvGrpSpPr/>
          <p:nvPr/>
        </p:nvGrpSpPr>
        <p:grpSpPr>
          <a:xfrm>
            <a:off x="3449399" y="1675224"/>
            <a:ext cx="2317700" cy="2876715"/>
            <a:chOff x="865098" y="283725"/>
            <a:chExt cx="2343952" cy="4076400"/>
          </a:xfrm>
        </p:grpSpPr>
        <p:sp>
          <p:nvSpPr>
            <p:cNvPr id="447" name="Google Shape;447;p24"/>
            <p:cNvSpPr/>
            <p:nvPr/>
          </p:nvSpPr>
          <p:spPr>
            <a:xfrm>
              <a:off x="1178650" y="283725"/>
              <a:ext cx="2030400" cy="4076400"/>
            </a:xfrm>
            <a:prstGeom prst="rect">
              <a:avLst/>
            </a:prstGeom>
            <a:solidFill>
              <a:srgbClr val="1B786F"/>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448" name="Google Shape;448;p24"/>
            <p:cNvSpPr/>
            <p:nvPr/>
          </p:nvSpPr>
          <p:spPr>
            <a:xfrm>
              <a:off x="1118224" y="341749"/>
              <a:ext cx="2048100" cy="2490600"/>
            </a:xfrm>
            <a:prstGeom prst="rect">
              <a:avLst/>
            </a:prstGeom>
            <a:solidFill>
              <a:srgbClr val="FFFFFF"/>
            </a:solidFill>
            <a:ln cap="flat" cmpd="sng" w="14775">
              <a:solidFill>
                <a:srgbClr val="1D7E75"/>
              </a:solidFill>
              <a:prstDash val="solid"/>
              <a:round/>
              <a:headEnd len="sm" w="sm" type="none"/>
              <a:tailEnd len="sm" w="sm" type="none"/>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449" name="Google Shape;449;p24"/>
            <p:cNvSpPr/>
            <p:nvPr/>
          </p:nvSpPr>
          <p:spPr>
            <a:xfrm>
              <a:off x="1235060" y="1554131"/>
              <a:ext cx="1815000" cy="608100"/>
            </a:xfrm>
            <a:prstGeom prst="rect">
              <a:avLst/>
            </a:prstGeom>
            <a:noFill/>
            <a:ln>
              <a:noFill/>
            </a:ln>
          </p:spPr>
          <p:txBody>
            <a:bodyPr anchorCtr="0" anchor="ctr" bIns="70875" lIns="70875" spcFirstLastPara="1" rIns="70875" wrap="square" tIns="70875">
              <a:noAutofit/>
            </a:bodyPr>
            <a:lstStyle/>
            <a:p>
              <a:pPr indent="0" lvl="0" marL="0" rtl="0" algn="ctr">
                <a:spcBef>
                  <a:spcPts val="0"/>
                </a:spcBef>
                <a:spcAft>
                  <a:spcPts val="0"/>
                </a:spcAft>
                <a:buNone/>
              </a:pPr>
              <a:r>
                <a:rPr lang="en-GB" sz="1330">
                  <a:solidFill>
                    <a:srgbClr val="1D7E75"/>
                  </a:solidFill>
                  <a:latin typeface="Roboto Medium"/>
                  <a:ea typeface="Roboto Medium"/>
                  <a:cs typeface="Roboto Medium"/>
                  <a:sym typeface="Roboto Medium"/>
                </a:rPr>
                <a:t>Total Revenue</a:t>
              </a:r>
              <a:endParaRPr sz="1330">
                <a:solidFill>
                  <a:srgbClr val="1D7E75"/>
                </a:solidFill>
                <a:latin typeface="Roboto Medium"/>
                <a:ea typeface="Roboto Medium"/>
                <a:cs typeface="Roboto Medium"/>
                <a:sym typeface="Roboto Medium"/>
              </a:endParaRPr>
            </a:p>
          </p:txBody>
        </p:sp>
        <p:sp>
          <p:nvSpPr>
            <p:cNvPr id="450" name="Google Shape;450;p24"/>
            <p:cNvSpPr/>
            <p:nvPr/>
          </p:nvSpPr>
          <p:spPr>
            <a:xfrm>
              <a:off x="1235064" y="732574"/>
              <a:ext cx="1815000" cy="675000"/>
            </a:xfrm>
            <a:prstGeom prst="rect">
              <a:avLst/>
            </a:prstGeom>
            <a:noFill/>
            <a:ln>
              <a:noFill/>
            </a:ln>
          </p:spPr>
          <p:txBody>
            <a:bodyPr anchorCtr="0" anchor="ctr" bIns="70875" lIns="70875" spcFirstLastPara="1" rIns="70875" wrap="square" tIns="70875">
              <a:noAutofit/>
            </a:bodyPr>
            <a:lstStyle/>
            <a:p>
              <a:pPr indent="0" lvl="0" marL="0" rtl="0" algn="ctr">
                <a:spcBef>
                  <a:spcPts val="0"/>
                </a:spcBef>
                <a:spcAft>
                  <a:spcPts val="0"/>
                </a:spcAft>
                <a:buNone/>
              </a:pPr>
              <a:r>
                <a:rPr b="1" lang="en-GB" sz="2201">
                  <a:solidFill>
                    <a:srgbClr val="1D7E75"/>
                  </a:solidFill>
                  <a:latin typeface="Roboto"/>
                  <a:ea typeface="Roboto"/>
                  <a:cs typeface="Roboto"/>
                  <a:sym typeface="Roboto"/>
                </a:rPr>
                <a:t>$</a:t>
              </a:r>
              <a:r>
                <a:rPr b="1" lang="en-GB" sz="2201">
                  <a:solidFill>
                    <a:srgbClr val="1D7E75"/>
                  </a:solidFill>
                  <a:latin typeface="Roboto"/>
                  <a:ea typeface="Roboto"/>
                  <a:cs typeface="Roboto"/>
                  <a:sym typeface="Roboto"/>
                </a:rPr>
                <a:t>362,165.00</a:t>
              </a:r>
              <a:endParaRPr b="1" sz="2201">
                <a:solidFill>
                  <a:srgbClr val="1D7E75"/>
                </a:solidFill>
                <a:latin typeface="Roboto"/>
                <a:ea typeface="Roboto"/>
                <a:cs typeface="Roboto"/>
                <a:sym typeface="Roboto"/>
              </a:endParaRPr>
            </a:p>
          </p:txBody>
        </p:sp>
        <p:sp>
          <p:nvSpPr>
            <p:cNvPr id="451" name="Google Shape;451;p24"/>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452" name="Google Shape;452;p24"/>
            <p:cNvSpPr/>
            <p:nvPr/>
          </p:nvSpPr>
          <p:spPr>
            <a:xfrm>
              <a:off x="865098" y="3172453"/>
              <a:ext cx="2283600" cy="1085400"/>
            </a:xfrm>
            <a:prstGeom prst="rect">
              <a:avLst/>
            </a:prstGeom>
            <a:noFill/>
            <a:ln>
              <a:noFill/>
            </a:ln>
          </p:spPr>
          <p:txBody>
            <a:bodyPr anchorCtr="0" anchor="t" bIns="70875" lIns="70875" spcFirstLastPara="1" rIns="70875" wrap="square" tIns="70875">
              <a:noAutofit/>
            </a:bodyPr>
            <a:lstStyle/>
            <a:p>
              <a:pPr indent="0" lvl="0" marL="354397" rtl="0" algn="l">
                <a:lnSpc>
                  <a:spcPct val="115000"/>
                </a:lnSpc>
                <a:spcBef>
                  <a:spcPts val="0"/>
                </a:spcBef>
                <a:spcAft>
                  <a:spcPts val="0"/>
                </a:spcAft>
                <a:buNone/>
              </a:pPr>
              <a:r>
                <a:rPr lang="en-GB" sz="800">
                  <a:solidFill>
                    <a:srgbClr val="FFFFFF"/>
                  </a:solidFill>
                  <a:latin typeface="Roboto"/>
                  <a:ea typeface="Roboto"/>
                  <a:cs typeface="Roboto"/>
                  <a:sym typeface="Roboto"/>
                </a:rPr>
                <a:t>Shows the total revenue generated from purchases.</a:t>
              </a:r>
              <a:endParaRPr sz="800">
                <a:solidFill>
                  <a:srgbClr val="FFFFFF"/>
                </a:solidFill>
                <a:latin typeface="Roboto"/>
                <a:ea typeface="Roboto"/>
                <a:cs typeface="Roboto"/>
                <a:sym typeface="Roboto"/>
              </a:endParaRPr>
            </a:p>
          </p:txBody>
        </p:sp>
      </p:grpSp>
      <p:grpSp>
        <p:nvGrpSpPr>
          <p:cNvPr id="453" name="Google Shape;453;p24"/>
          <p:cNvGrpSpPr/>
          <p:nvPr/>
        </p:nvGrpSpPr>
        <p:grpSpPr>
          <a:xfrm>
            <a:off x="5726325" y="1675224"/>
            <a:ext cx="1659455" cy="2765837"/>
            <a:chOff x="748411" y="283725"/>
            <a:chExt cx="2460639" cy="4076400"/>
          </a:xfrm>
        </p:grpSpPr>
        <p:sp>
          <p:nvSpPr>
            <p:cNvPr id="454" name="Google Shape;454;p24"/>
            <p:cNvSpPr/>
            <p:nvPr/>
          </p:nvSpPr>
          <p:spPr>
            <a:xfrm>
              <a:off x="1178650" y="283725"/>
              <a:ext cx="2030400" cy="4076400"/>
            </a:xfrm>
            <a:prstGeom prst="rect">
              <a:avLst/>
            </a:prstGeom>
            <a:solidFill>
              <a:srgbClr val="1B786F"/>
            </a:solidFill>
            <a:ln>
              <a:noFill/>
            </a:ln>
          </p:spPr>
          <p:txBody>
            <a:bodyPr anchorCtr="0" anchor="ctr" bIns="68150" lIns="68150" spcFirstLastPara="1" rIns="68150" wrap="square" tIns="68150">
              <a:noAutofit/>
            </a:bodyPr>
            <a:lstStyle/>
            <a:p>
              <a:pPr indent="0" lvl="0" marL="0" rtl="0" algn="l">
                <a:spcBef>
                  <a:spcPts val="0"/>
                </a:spcBef>
                <a:spcAft>
                  <a:spcPts val="0"/>
                </a:spcAft>
                <a:buNone/>
              </a:pPr>
              <a:r>
                <a:t/>
              </a:r>
              <a:endParaRPr/>
            </a:p>
          </p:txBody>
        </p:sp>
        <p:sp>
          <p:nvSpPr>
            <p:cNvPr id="455" name="Google Shape;455;p24"/>
            <p:cNvSpPr/>
            <p:nvPr/>
          </p:nvSpPr>
          <p:spPr>
            <a:xfrm>
              <a:off x="1118224" y="341749"/>
              <a:ext cx="2048100" cy="2490600"/>
            </a:xfrm>
            <a:prstGeom prst="rect">
              <a:avLst/>
            </a:prstGeom>
            <a:solidFill>
              <a:srgbClr val="FFFFFF"/>
            </a:solidFill>
            <a:ln cap="flat" cmpd="sng" w="14200">
              <a:solidFill>
                <a:srgbClr val="1D7E75"/>
              </a:solidFill>
              <a:prstDash val="solid"/>
              <a:round/>
              <a:headEnd len="sm" w="sm" type="none"/>
              <a:tailEnd len="sm" w="sm" type="none"/>
            </a:ln>
          </p:spPr>
          <p:txBody>
            <a:bodyPr anchorCtr="0" anchor="ctr" bIns="68150" lIns="68150" spcFirstLastPara="1" rIns="68150" wrap="square" tIns="68150">
              <a:noAutofit/>
            </a:bodyPr>
            <a:lstStyle/>
            <a:p>
              <a:pPr indent="0" lvl="0" marL="0" rtl="0" algn="l">
                <a:spcBef>
                  <a:spcPts val="0"/>
                </a:spcBef>
                <a:spcAft>
                  <a:spcPts val="0"/>
                </a:spcAft>
                <a:buNone/>
              </a:pPr>
              <a:r>
                <a:t/>
              </a:r>
              <a:endParaRPr sz="1346"/>
            </a:p>
          </p:txBody>
        </p:sp>
        <p:sp>
          <p:nvSpPr>
            <p:cNvPr id="456" name="Google Shape;456;p24"/>
            <p:cNvSpPr/>
            <p:nvPr/>
          </p:nvSpPr>
          <p:spPr>
            <a:xfrm>
              <a:off x="1305709" y="1633683"/>
              <a:ext cx="1815000" cy="608100"/>
            </a:xfrm>
            <a:prstGeom prst="rect">
              <a:avLst/>
            </a:prstGeom>
            <a:noFill/>
            <a:ln>
              <a:noFill/>
            </a:ln>
          </p:spPr>
          <p:txBody>
            <a:bodyPr anchorCtr="0" anchor="ctr" bIns="68150" lIns="68150" spcFirstLastPara="1" rIns="68150" wrap="square" tIns="68150">
              <a:noAutofit/>
            </a:bodyPr>
            <a:lstStyle/>
            <a:p>
              <a:pPr indent="0" lvl="0" marL="0" rtl="0" algn="ctr">
                <a:spcBef>
                  <a:spcPts val="0"/>
                </a:spcBef>
                <a:spcAft>
                  <a:spcPts val="0"/>
                </a:spcAft>
                <a:buNone/>
              </a:pPr>
              <a:r>
                <a:rPr lang="en-GB" sz="1000">
                  <a:solidFill>
                    <a:srgbClr val="1D7E75"/>
                  </a:solidFill>
                  <a:latin typeface="Roboto Medium"/>
                  <a:ea typeface="Roboto Medium"/>
                  <a:cs typeface="Roboto Medium"/>
                  <a:sym typeface="Roboto Medium"/>
                </a:rPr>
                <a:t>Conversion Rate</a:t>
              </a:r>
              <a:endParaRPr sz="1000">
                <a:solidFill>
                  <a:srgbClr val="1D7E75"/>
                </a:solidFill>
                <a:latin typeface="Roboto Medium"/>
                <a:ea typeface="Roboto Medium"/>
                <a:cs typeface="Roboto Medium"/>
                <a:sym typeface="Roboto Medium"/>
              </a:endParaRPr>
            </a:p>
          </p:txBody>
        </p:sp>
        <p:sp>
          <p:nvSpPr>
            <p:cNvPr id="457" name="Google Shape;457;p24"/>
            <p:cNvSpPr/>
            <p:nvPr/>
          </p:nvSpPr>
          <p:spPr>
            <a:xfrm>
              <a:off x="1180024" y="930069"/>
              <a:ext cx="1815000" cy="675000"/>
            </a:xfrm>
            <a:prstGeom prst="rect">
              <a:avLst/>
            </a:prstGeom>
            <a:noFill/>
            <a:ln>
              <a:noFill/>
            </a:ln>
          </p:spPr>
          <p:txBody>
            <a:bodyPr anchorCtr="0" anchor="ctr" bIns="68150" lIns="68150" spcFirstLastPara="1" rIns="68150" wrap="square" tIns="68150">
              <a:noAutofit/>
            </a:bodyPr>
            <a:lstStyle/>
            <a:p>
              <a:pPr indent="0" lvl="0" marL="0" rtl="0" algn="ctr">
                <a:spcBef>
                  <a:spcPts val="0"/>
                </a:spcBef>
                <a:spcAft>
                  <a:spcPts val="0"/>
                </a:spcAft>
                <a:buNone/>
              </a:pPr>
              <a:r>
                <a:rPr b="1" lang="en-GB" sz="2400">
                  <a:solidFill>
                    <a:srgbClr val="1D7E75"/>
                  </a:solidFill>
                  <a:latin typeface="Roboto"/>
                  <a:ea typeface="Roboto"/>
                  <a:cs typeface="Roboto"/>
                  <a:sym typeface="Roboto"/>
                </a:rPr>
                <a:t>1.35%</a:t>
              </a:r>
              <a:endParaRPr sz="2400">
                <a:solidFill>
                  <a:srgbClr val="1D7E75"/>
                </a:solidFill>
                <a:latin typeface="Roboto Thin"/>
                <a:ea typeface="Roboto Thin"/>
                <a:cs typeface="Roboto Thin"/>
                <a:sym typeface="Roboto Thin"/>
              </a:endParaRPr>
            </a:p>
          </p:txBody>
        </p:sp>
        <p:sp>
          <p:nvSpPr>
            <p:cNvPr id="458" name="Google Shape;458;p24"/>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68150" lIns="68150" spcFirstLastPara="1" rIns="68150" wrap="square" tIns="68150">
              <a:noAutofit/>
            </a:bodyPr>
            <a:lstStyle/>
            <a:p>
              <a:pPr indent="0" lvl="0" marL="0" rtl="0" algn="l">
                <a:spcBef>
                  <a:spcPts val="0"/>
                </a:spcBef>
                <a:spcAft>
                  <a:spcPts val="0"/>
                </a:spcAft>
                <a:buNone/>
              </a:pPr>
              <a:r>
                <a:t/>
              </a:r>
              <a:endParaRPr/>
            </a:p>
          </p:txBody>
        </p:sp>
        <p:sp>
          <p:nvSpPr>
            <p:cNvPr id="459" name="Google Shape;459;p24"/>
            <p:cNvSpPr/>
            <p:nvPr/>
          </p:nvSpPr>
          <p:spPr>
            <a:xfrm>
              <a:off x="748411" y="3172451"/>
              <a:ext cx="2400300" cy="1085400"/>
            </a:xfrm>
            <a:prstGeom prst="rect">
              <a:avLst/>
            </a:prstGeom>
            <a:noFill/>
            <a:ln>
              <a:noFill/>
            </a:ln>
          </p:spPr>
          <p:txBody>
            <a:bodyPr anchorCtr="0" anchor="t" bIns="68150" lIns="68150" spcFirstLastPara="1" rIns="68150" wrap="square" tIns="68150">
              <a:noAutofit/>
            </a:bodyPr>
            <a:lstStyle/>
            <a:p>
              <a:pPr indent="0" lvl="0" marL="340732" rtl="0" algn="l">
                <a:lnSpc>
                  <a:spcPct val="115000"/>
                </a:lnSpc>
                <a:spcBef>
                  <a:spcPts val="0"/>
                </a:spcBef>
                <a:spcAft>
                  <a:spcPts val="0"/>
                </a:spcAft>
                <a:buNone/>
              </a:pPr>
              <a:r>
                <a:rPr lang="en-GB" sz="800">
                  <a:solidFill>
                    <a:srgbClr val="FFFFFF"/>
                  </a:solidFill>
                  <a:latin typeface="Roboto"/>
                  <a:ea typeface="Roboto"/>
                  <a:cs typeface="Roboto"/>
                  <a:sym typeface="Roboto"/>
                </a:rPr>
                <a:t>Measures the percentage of sessions that resulted in a purchase.</a:t>
              </a:r>
              <a:endParaRPr sz="800">
                <a:solidFill>
                  <a:srgbClr val="FFFFFF"/>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3" name="Shape 463"/>
        <p:cNvGrpSpPr/>
        <p:nvPr/>
      </p:nvGrpSpPr>
      <p:grpSpPr>
        <a:xfrm>
          <a:off x="0" y="0"/>
          <a:ext cx="0" cy="0"/>
          <a:chOff x="0" y="0"/>
          <a:chExt cx="0" cy="0"/>
        </a:xfrm>
      </p:grpSpPr>
      <p:sp>
        <p:nvSpPr>
          <p:cNvPr id="464" name="Google Shape;464;p25"/>
          <p:cNvSpPr/>
          <p:nvPr/>
        </p:nvSpPr>
        <p:spPr>
          <a:xfrm>
            <a:off x="6200475" y="993900"/>
            <a:ext cx="2751192" cy="1652886"/>
          </a:xfrm>
          <a:prstGeom prst="flowChartTerminator">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chemeClr val="lt1"/>
                </a:solidFill>
                <a:latin typeface="Maven Pro"/>
                <a:ea typeface="Maven Pro"/>
                <a:cs typeface="Maven Pro"/>
                <a:sym typeface="Maven Pro"/>
              </a:rPr>
              <a:t>E-commerce Conversion Funnel</a:t>
            </a:r>
            <a:endParaRPr b="1" sz="20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400">
              <a:solidFill>
                <a:schemeClr val="lt1"/>
              </a:solidFill>
              <a:latin typeface="Nunito"/>
              <a:ea typeface="Nunito"/>
              <a:cs typeface="Nunito"/>
              <a:sym typeface="Nunito"/>
            </a:endParaRPr>
          </a:p>
        </p:txBody>
      </p:sp>
      <p:sp>
        <p:nvSpPr>
          <p:cNvPr id="465" name="Google Shape;465;p25"/>
          <p:cNvSpPr/>
          <p:nvPr/>
        </p:nvSpPr>
        <p:spPr>
          <a:xfrm>
            <a:off x="6374450" y="2864275"/>
            <a:ext cx="2414100" cy="216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lt1"/>
                </a:solidFill>
                <a:latin typeface="Nunito"/>
                <a:ea typeface="Nunito"/>
                <a:cs typeface="Nunito"/>
                <a:sym typeface="Nunito"/>
              </a:rPr>
              <a:t>The funnel chart visualizes the user journey from Session Start to Purchase. It shows how many users continue through each e-commerce step and helps identify major drop-off points. The largest drop occurs between Session Start and View Item, while the final Purchase step represents completed conversions.</a:t>
            </a:r>
            <a:endParaRPr sz="1100">
              <a:solidFill>
                <a:schemeClr val="lt1"/>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sp>
        <p:nvSpPr>
          <p:cNvPr id="470" name="Google Shape;470;p26"/>
          <p:cNvSpPr/>
          <p:nvPr/>
        </p:nvSpPr>
        <p:spPr>
          <a:xfrm>
            <a:off x="4572000" y="259875"/>
            <a:ext cx="2153088" cy="831924"/>
          </a:xfrm>
          <a:prstGeom prst="flowChartTerminator">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Maven Pro"/>
                <a:ea typeface="Maven Pro"/>
                <a:cs typeface="Maven Pro"/>
                <a:sym typeface="Maven Pro"/>
              </a:rPr>
              <a:t>Sessions and Purchases Over Time </a:t>
            </a:r>
            <a:endParaRPr sz="1800">
              <a:solidFill>
                <a:schemeClr val="lt1"/>
              </a:solidFill>
              <a:latin typeface="Nunito"/>
              <a:ea typeface="Nunito"/>
              <a:cs typeface="Nunito"/>
              <a:sym typeface="Nunito"/>
            </a:endParaRPr>
          </a:p>
        </p:txBody>
      </p:sp>
      <p:sp>
        <p:nvSpPr>
          <p:cNvPr id="471" name="Google Shape;471;p26"/>
          <p:cNvSpPr/>
          <p:nvPr/>
        </p:nvSpPr>
        <p:spPr>
          <a:xfrm>
            <a:off x="6729900" y="20675"/>
            <a:ext cx="2414100" cy="1587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lt1"/>
                </a:solidFill>
                <a:latin typeface="Nunito"/>
                <a:ea typeface="Nunito"/>
                <a:cs typeface="Nunito"/>
                <a:sym typeface="Nunito"/>
              </a:rPr>
              <a:t>This chart shows daily sessions and purchases over time. It helps compare website traffic with purchase activity and identify traffic peaks, drops, and possible changes in user behavior during the selected period.</a:t>
            </a:r>
            <a:endParaRPr sz="1100">
              <a:solidFill>
                <a:schemeClr val="lt1"/>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5" name="Shape 475"/>
        <p:cNvGrpSpPr/>
        <p:nvPr/>
      </p:nvGrpSpPr>
      <p:grpSpPr>
        <a:xfrm>
          <a:off x="0" y="0"/>
          <a:ext cx="0" cy="0"/>
          <a:chOff x="0" y="0"/>
          <a:chExt cx="0" cy="0"/>
        </a:xfrm>
      </p:grpSpPr>
      <p:sp>
        <p:nvSpPr>
          <p:cNvPr id="476" name="Google Shape;476;p27"/>
          <p:cNvSpPr/>
          <p:nvPr/>
        </p:nvSpPr>
        <p:spPr>
          <a:xfrm>
            <a:off x="4572000" y="259875"/>
            <a:ext cx="2153088" cy="831924"/>
          </a:xfrm>
          <a:prstGeom prst="flowChartTerminator">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Maven Pro"/>
                <a:ea typeface="Maven Pro"/>
                <a:cs typeface="Maven Pro"/>
                <a:sym typeface="Maven Pro"/>
              </a:rPr>
              <a:t>Revenue Over Time</a:t>
            </a:r>
            <a:endParaRPr sz="1800">
              <a:solidFill>
                <a:schemeClr val="lt1"/>
              </a:solidFill>
              <a:latin typeface="Nunito"/>
              <a:ea typeface="Nunito"/>
              <a:cs typeface="Nunito"/>
              <a:sym typeface="Nunito"/>
            </a:endParaRPr>
          </a:p>
        </p:txBody>
      </p:sp>
      <p:sp>
        <p:nvSpPr>
          <p:cNvPr id="477" name="Google Shape;477;p27"/>
          <p:cNvSpPr/>
          <p:nvPr/>
        </p:nvSpPr>
        <p:spPr>
          <a:xfrm>
            <a:off x="6729900" y="20675"/>
            <a:ext cx="2414100" cy="1430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lt1"/>
                </a:solidFill>
                <a:latin typeface="Nunito"/>
                <a:ea typeface="Nunito"/>
                <a:cs typeface="Nunito"/>
                <a:sym typeface="Nunito"/>
              </a:rPr>
              <a:t>This chart visualizes daily revenue performance over time. It helps track sales trends, identify high-revenue periods, and observe decreases in revenue during the selected date range.</a:t>
            </a:r>
            <a:endParaRPr sz="1100">
              <a:solidFill>
                <a:schemeClr val="lt1"/>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1" name="Shape 481"/>
        <p:cNvGrpSpPr/>
        <p:nvPr/>
      </p:nvGrpSpPr>
      <p:grpSpPr>
        <a:xfrm>
          <a:off x="0" y="0"/>
          <a:ext cx="0" cy="0"/>
          <a:chOff x="0" y="0"/>
          <a:chExt cx="0" cy="0"/>
        </a:xfrm>
      </p:grpSpPr>
      <p:sp>
        <p:nvSpPr>
          <p:cNvPr id="482" name="Google Shape;482;p28"/>
          <p:cNvSpPr/>
          <p:nvPr/>
        </p:nvSpPr>
        <p:spPr>
          <a:xfrm>
            <a:off x="4315777" y="2657713"/>
            <a:ext cx="2414124" cy="831924"/>
          </a:xfrm>
          <a:prstGeom prst="flowChartTerminator">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Maven Pro"/>
                <a:ea typeface="Maven Pro"/>
                <a:cs typeface="Maven Pro"/>
                <a:sym typeface="Maven Pro"/>
              </a:rPr>
              <a:t>Revenue by Source / Medium </a:t>
            </a:r>
            <a:endParaRPr sz="1800">
              <a:solidFill>
                <a:schemeClr val="lt1"/>
              </a:solidFill>
              <a:latin typeface="Nunito"/>
              <a:ea typeface="Nunito"/>
              <a:cs typeface="Nunito"/>
              <a:sym typeface="Nunito"/>
            </a:endParaRPr>
          </a:p>
        </p:txBody>
      </p:sp>
      <p:sp>
        <p:nvSpPr>
          <p:cNvPr id="483" name="Google Shape;483;p28"/>
          <p:cNvSpPr/>
          <p:nvPr/>
        </p:nvSpPr>
        <p:spPr>
          <a:xfrm>
            <a:off x="6729900" y="2358625"/>
            <a:ext cx="2414100" cy="1430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lt1"/>
                </a:solidFill>
                <a:latin typeface="Nunito"/>
                <a:ea typeface="Nunito"/>
                <a:cs typeface="Nunito"/>
                <a:sym typeface="Nunito"/>
              </a:rPr>
              <a:t>This chart compares revenue performance by source and medium. It shows which traffic channels generated the most revenue and helps evaluate the effectiveness of acquisition sources.</a:t>
            </a:r>
            <a:endParaRPr sz="1100">
              <a:solidFill>
                <a:schemeClr val="lt1"/>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29" title="project last - Günışığı Aydoğan_Untitled page_Table.png"/>
          <p:cNvPicPr preferRelativeResize="0"/>
          <p:nvPr/>
        </p:nvPicPr>
        <p:blipFill>
          <a:blip r:embed="rId3">
            <a:alphaModFix/>
          </a:blip>
          <a:stretch>
            <a:fillRect/>
          </a:stretch>
        </p:blipFill>
        <p:spPr>
          <a:xfrm>
            <a:off x="0" y="1568750"/>
            <a:ext cx="9144000" cy="3574750"/>
          </a:xfrm>
          <a:prstGeom prst="rect">
            <a:avLst/>
          </a:prstGeom>
          <a:noFill/>
          <a:ln>
            <a:noFill/>
          </a:ln>
        </p:spPr>
      </p:pic>
      <p:sp>
        <p:nvSpPr>
          <p:cNvPr id="489" name="Google Shape;489;p29"/>
          <p:cNvSpPr/>
          <p:nvPr/>
        </p:nvSpPr>
        <p:spPr>
          <a:xfrm>
            <a:off x="1608102" y="363238"/>
            <a:ext cx="2414124" cy="831924"/>
          </a:xfrm>
          <a:prstGeom prst="flowChartTerminator">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accent3"/>
                </a:solidFill>
                <a:highlight>
                  <a:schemeClr val="lt1"/>
                </a:highlight>
                <a:latin typeface="Maven Pro"/>
                <a:ea typeface="Maven Pro"/>
                <a:cs typeface="Maven Pro"/>
                <a:sym typeface="Maven Pro"/>
              </a:rPr>
              <a:t>Revenue by Source / Medium </a:t>
            </a:r>
            <a:endParaRPr sz="1800">
              <a:solidFill>
                <a:schemeClr val="accent3"/>
              </a:solidFill>
              <a:highlight>
                <a:schemeClr val="lt1"/>
              </a:highlight>
              <a:latin typeface="Nunito"/>
              <a:ea typeface="Nunito"/>
              <a:cs typeface="Nunito"/>
              <a:sym typeface="Nunito"/>
            </a:endParaRPr>
          </a:p>
        </p:txBody>
      </p:sp>
      <p:sp>
        <p:nvSpPr>
          <p:cNvPr id="490" name="Google Shape;490;p29"/>
          <p:cNvSpPr/>
          <p:nvPr/>
        </p:nvSpPr>
        <p:spPr>
          <a:xfrm>
            <a:off x="4022225" y="122050"/>
            <a:ext cx="3635400" cy="1241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accent3"/>
                </a:solidFill>
                <a:latin typeface="Nunito"/>
                <a:ea typeface="Nunito"/>
                <a:cs typeface="Nunito"/>
                <a:sym typeface="Nunito"/>
              </a:rPr>
              <a:t>This table compares the top landing pages by sessions, purchases, revenue, and conversion rate. It helps identify which pages drive the most traffic and which pages perform better in terms of sales and conversions.</a:t>
            </a:r>
            <a:endParaRPr sz="1100">
              <a:solidFill>
                <a:schemeClr val="accent3"/>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30" title="project last - Günışığı Aydoğan_Untitled page_Bar chart (1).png"/>
          <p:cNvPicPr preferRelativeResize="0"/>
          <p:nvPr/>
        </p:nvPicPr>
        <p:blipFill>
          <a:blip r:embed="rId3">
            <a:alphaModFix/>
          </a:blip>
          <a:stretch>
            <a:fillRect/>
          </a:stretch>
        </p:blipFill>
        <p:spPr>
          <a:xfrm>
            <a:off x="0" y="1526750"/>
            <a:ext cx="9144000" cy="3616750"/>
          </a:xfrm>
          <a:prstGeom prst="rect">
            <a:avLst/>
          </a:prstGeom>
          <a:noFill/>
          <a:ln>
            <a:noFill/>
          </a:ln>
        </p:spPr>
      </p:pic>
      <p:sp>
        <p:nvSpPr>
          <p:cNvPr id="496" name="Google Shape;496;p30"/>
          <p:cNvSpPr/>
          <p:nvPr/>
        </p:nvSpPr>
        <p:spPr>
          <a:xfrm>
            <a:off x="1307075" y="363250"/>
            <a:ext cx="2715174" cy="831924"/>
          </a:xfrm>
          <a:prstGeom prst="flowChartTerminator">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accent3"/>
                </a:solidFill>
                <a:highlight>
                  <a:schemeClr val="lt1"/>
                </a:highlight>
                <a:latin typeface="Maven Pro"/>
                <a:ea typeface="Maven Pro"/>
                <a:cs typeface="Maven Pro"/>
                <a:sym typeface="Maven Pro"/>
              </a:rPr>
              <a:t>Conversion Rate by Device Category</a:t>
            </a:r>
            <a:endParaRPr sz="1800">
              <a:solidFill>
                <a:schemeClr val="accent3"/>
              </a:solidFill>
              <a:highlight>
                <a:schemeClr val="lt1"/>
              </a:highlight>
              <a:latin typeface="Nunito"/>
              <a:ea typeface="Nunito"/>
              <a:cs typeface="Nunito"/>
              <a:sym typeface="Nunito"/>
            </a:endParaRPr>
          </a:p>
        </p:txBody>
      </p:sp>
      <p:sp>
        <p:nvSpPr>
          <p:cNvPr id="497" name="Google Shape;497;p30"/>
          <p:cNvSpPr/>
          <p:nvPr/>
        </p:nvSpPr>
        <p:spPr>
          <a:xfrm>
            <a:off x="4022250" y="278063"/>
            <a:ext cx="3635400" cy="100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GB" sz="1100">
                <a:solidFill>
                  <a:schemeClr val="accent3"/>
                </a:solidFill>
                <a:latin typeface="Nunito"/>
                <a:ea typeface="Nunito"/>
                <a:cs typeface="Nunito"/>
                <a:sym typeface="Nunito"/>
              </a:rPr>
              <a:t>This chart shows conversion rate by device category. It compares mobile, desktop, and tablet performance and helps identify which device type converts users more effectively.</a:t>
            </a:r>
            <a:endParaRPr sz="1100">
              <a:solidFill>
                <a:schemeClr val="accent3"/>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Interactive Filters</a:t>
            </a:r>
            <a:endParaRPr>
              <a:solidFill>
                <a:schemeClr val="lt1"/>
              </a:solidFill>
            </a:endParaRPr>
          </a:p>
        </p:txBody>
      </p:sp>
      <p:sp>
        <p:nvSpPr>
          <p:cNvPr id="503" name="Google Shape;503;p31"/>
          <p:cNvSpPr txBox="1"/>
          <p:nvPr>
            <p:ph idx="1" type="body"/>
          </p:nvPr>
        </p:nvSpPr>
        <p:spPr>
          <a:xfrm>
            <a:off x="1303800" y="1360350"/>
            <a:ext cx="7030500" cy="1211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lt1"/>
                </a:solidFill>
              </a:rPr>
              <a:t>The dashboard includes interactive filters that allow users to explore the data by session date, landing page, source, medium, campaign, device category, language, and operating system. These filters make the dashboard more flexible and help users analyze specific traffic segments and user behaviors.</a:t>
            </a:r>
            <a:endParaRPr>
              <a:solidFill>
                <a:schemeClr val="lt1"/>
              </a:solidFill>
            </a:endParaRPr>
          </a:p>
        </p:txBody>
      </p:sp>
      <p:grpSp>
        <p:nvGrpSpPr>
          <p:cNvPr id="504" name="Google Shape;504;p31"/>
          <p:cNvGrpSpPr/>
          <p:nvPr/>
        </p:nvGrpSpPr>
        <p:grpSpPr>
          <a:xfrm>
            <a:off x="1284906" y="2526357"/>
            <a:ext cx="2047211" cy="2050567"/>
            <a:chOff x="2675582" y="676586"/>
            <a:chExt cx="3793942" cy="3790328"/>
          </a:xfrm>
        </p:grpSpPr>
        <p:sp>
          <p:nvSpPr>
            <p:cNvPr id="505" name="Google Shape;505;p31"/>
            <p:cNvSpPr/>
            <p:nvPr/>
          </p:nvSpPr>
          <p:spPr>
            <a:xfrm rot="-7199815">
              <a:off x="3183352" y="1184485"/>
              <a:ext cx="2774659" cy="2774659"/>
            </a:xfrm>
            <a:prstGeom prst="blockArc">
              <a:avLst>
                <a:gd fmla="val 12622480" name="adj1"/>
                <a:gd fmla="val 18176457" name="adj2"/>
                <a:gd fmla="val 20786" name="adj3"/>
              </a:avLst>
            </a:prstGeom>
            <a:solidFill>
              <a:srgbClr val="000000"/>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06" name="Google Shape;506;p31"/>
            <p:cNvSpPr/>
            <p:nvPr/>
          </p:nvSpPr>
          <p:spPr>
            <a:xfrm rot="-1799815">
              <a:off x="3183352" y="1184357"/>
              <a:ext cx="2774659" cy="2774659"/>
            </a:xfrm>
            <a:prstGeom prst="blockArc">
              <a:avLst>
                <a:gd fmla="val 12622480" name="adj1"/>
                <a:gd fmla="val 18176457" name="adj2"/>
                <a:gd fmla="val 20786" name="adj3"/>
              </a:avLst>
            </a:prstGeom>
            <a:solidFill>
              <a:schemeClr val="lt1"/>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07" name="Google Shape;507;p31"/>
            <p:cNvSpPr/>
            <p:nvPr/>
          </p:nvSpPr>
          <p:spPr>
            <a:xfrm rot="3600185">
              <a:off x="3187094" y="1184439"/>
              <a:ext cx="2774659" cy="2774659"/>
            </a:xfrm>
            <a:prstGeom prst="blockArc">
              <a:avLst>
                <a:gd fmla="val 12564381" name="adj1"/>
                <a:gd fmla="val 18346131" name="adj2"/>
                <a:gd fmla="val 20844" name="adj3"/>
              </a:avLst>
            </a:prstGeom>
            <a:solidFill>
              <a:srgbClr val="B8B0B0"/>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08" name="Google Shape;508;p31"/>
            <p:cNvSpPr/>
            <p:nvPr/>
          </p:nvSpPr>
          <p:spPr>
            <a:xfrm rot="9000185">
              <a:off x="3185977" y="1184485"/>
              <a:ext cx="2774659" cy="2774659"/>
            </a:xfrm>
            <a:prstGeom prst="blockArc">
              <a:avLst>
                <a:gd fmla="val 12622480" name="adj1"/>
                <a:gd fmla="val 18081133" name="adj2"/>
                <a:gd fmla="val 20809" name="adj3"/>
              </a:avLst>
            </a:prstGeom>
            <a:solidFill>
              <a:srgbClr val="6D7170"/>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nvGrpSpPr>
            <p:cNvPr id="509" name="Google Shape;509;p31"/>
            <p:cNvGrpSpPr/>
            <p:nvPr/>
          </p:nvGrpSpPr>
          <p:grpSpPr>
            <a:xfrm rot="5400000">
              <a:off x="5379663" y="2278951"/>
              <a:ext cx="585001" cy="585472"/>
              <a:chOff x="1967628" y="812211"/>
              <a:chExt cx="588000" cy="588000"/>
            </a:xfrm>
          </p:grpSpPr>
          <p:sp>
            <p:nvSpPr>
              <p:cNvPr id="510" name="Google Shape;510;p31"/>
              <p:cNvSpPr/>
              <p:nvPr/>
            </p:nvSpPr>
            <p:spPr>
              <a:xfrm rot="39023">
                <a:off x="1970909" y="815492"/>
                <a:ext cx="581437" cy="581437"/>
              </a:xfrm>
              <a:prstGeom prst="pie">
                <a:avLst>
                  <a:gd fmla="val 6190354" name="adj1"/>
                  <a:gd fmla="val 14996165" name="adj2"/>
                </a:avLst>
              </a:prstGeom>
              <a:solidFill>
                <a:srgbClr val="1B786F"/>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11" name="Google Shape;511;p31"/>
              <p:cNvSpPr/>
              <p:nvPr/>
            </p:nvSpPr>
            <p:spPr>
              <a:xfrm rot="10800000">
                <a:off x="1970875" y="815525"/>
                <a:ext cx="581400" cy="581400"/>
              </a:xfrm>
              <a:prstGeom prst="pie">
                <a:avLst>
                  <a:gd fmla="val 4028252" name="adj1"/>
                  <a:gd fmla="val 17183677" name="adj2"/>
                </a:avLst>
              </a:prstGeom>
              <a:solidFill>
                <a:srgbClr val="1B786F"/>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grpSp>
          <p:nvGrpSpPr>
            <p:cNvPr id="512" name="Google Shape;512;p31"/>
            <p:cNvGrpSpPr/>
            <p:nvPr/>
          </p:nvGrpSpPr>
          <p:grpSpPr>
            <a:xfrm rot="10800000">
              <a:off x="4280709" y="3378529"/>
              <a:ext cx="585001" cy="585472"/>
              <a:chOff x="1967628" y="812211"/>
              <a:chExt cx="588000" cy="588000"/>
            </a:xfrm>
          </p:grpSpPr>
          <p:sp>
            <p:nvSpPr>
              <p:cNvPr id="513" name="Google Shape;513;p31"/>
              <p:cNvSpPr/>
              <p:nvPr/>
            </p:nvSpPr>
            <p:spPr>
              <a:xfrm rot="39023">
                <a:off x="1970909" y="815492"/>
                <a:ext cx="581437" cy="581437"/>
              </a:xfrm>
              <a:prstGeom prst="pie">
                <a:avLst>
                  <a:gd fmla="val 6190354" name="adj1"/>
                  <a:gd fmla="val 14996165" name="adj2"/>
                </a:avLst>
              </a:prstGeom>
              <a:solidFill>
                <a:srgbClr val="1D7E75"/>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14" name="Google Shape;514;p31"/>
              <p:cNvSpPr/>
              <p:nvPr/>
            </p:nvSpPr>
            <p:spPr>
              <a:xfrm rot="10800000">
                <a:off x="1970875" y="815525"/>
                <a:ext cx="581400" cy="581400"/>
              </a:xfrm>
              <a:prstGeom prst="pie">
                <a:avLst>
                  <a:gd fmla="val 4028252" name="adj1"/>
                  <a:gd fmla="val 17183677" name="adj2"/>
                </a:avLst>
              </a:prstGeom>
              <a:solidFill>
                <a:srgbClr val="1D7E75"/>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grpSp>
          <p:nvGrpSpPr>
            <p:cNvPr id="515" name="Google Shape;515;p31"/>
            <p:cNvGrpSpPr/>
            <p:nvPr/>
          </p:nvGrpSpPr>
          <p:grpSpPr>
            <a:xfrm rot="-5400000">
              <a:off x="3179922" y="2281478"/>
              <a:ext cx="585001" cy="585472"/>
              <a:chOff x="1967628" y="812211"/>
              <a:chExt cx="588000" cy="588000"/>
            </a:xfrm>
          </p:grpSpPr>
          <p:sp>
            <p:nvSpPr>
              <p:cNvPr id="516" name="Google Shape;516;p31"/>
              <p:cNvSpPr/>
              <p:nvPr/>
            </p:nvSpPr>
            <p:spPr>
              <a:xfrm rot="39023">
                <a:off x="1970909" y="815492"/>
                <a:ext cx="581437" cy="581437"/>
              </a:xfrm>
              <a:prstGeom prst="pie">
                <a:avLst>
                  <a:gd fmla="val 6190354" name="adj1"/>
                  <a:gd fmla="val 14996165" name="adj2"/>
                </a:avLst>
              </a:prstGeom>
              <a:solidFill>
                <a:srgbClr val="1F887E"/>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17" name="Google Shape;517;p31"/>
              <p:cNvSpPr/>
              <p:nvPr/>
            </p:nvSpPr>
            <p:spPr>
              <a:xfrm rot="10800000">
                <a:off x="1970875" y="815525"/>
                <a:ext cx="581400" cy="581400"/>
              </a:xfrm>
              <a:prstGeom prst="pie">
                <a:avLst>
                  <a:gd fmla="val 4028252" name="adj1"/>
                  <a:gd fmla="val 17183677" name="adj2"/>
                </a:avLst>
              </a:prstGeom>
              <a:solidFill>
                <a:srgbClr val="1F887E"/>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sp>
          <p:nvSpPr>
            <p:cNvPr id="518" name="Google Shape;518;p31"/>
            <p:cNvSpPr txBox="1"/>
            <p:nvPr/>
          </p:nvSpPr>
          <p:spPr>
            <a:xfrm>
              <a:off x="3214513" y="2360618"/>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01</a:t>
              </a:r>
              <a:endParaRPr b="1" sz="869">
                <a:solidFill>
                  <a:srgbClr val="FFFFFF"/>
                </a:solidFill>
                <a:latin typeface="Roboto"/>
                <a:ea typeface="Roboto"/>
                <a:cs typeface="Roboto"/>
                <a:sym typeface="Roboto"/>
              </a:endParaRPr>
            </a:p>
          </p:txBody>
        </p:sp>
        <p:sp>
          <p:nvSpPr>
            <p:cNvPr id="519" name="Google Shape;519;p31"/>
            <p:cNvSpPr txBox="1"/>
            <p:nvPr/>
          </p:nvSpPr>
          <p:spPr>
            <a:xfrm>
              <a:off x="4335750" y="3460301"/>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02</a:t>
              </a:r>
              <a:endParaRPr b="1" sz="869">
                <a:solidFill>
                  <a:srgbClr val="FFFFFF"/>
                </a:solidFill>
                <a:latin typeface="Roboto"/>
                <a:ea typeface="Roboto"/>
                <a:cs typeface="Roboto"/>
                <a:sym typeface="Roboto"/>
              </a:endParaRPr>
            </a:p>
          </p:txBody>
        </p:sp>
        <p:sp>
          <p:nvSpPr>
            <p:cNvPr id="520" name="Google Shape;520;p31"/>
            <p:cNvSpPr txBox="1"/>
            <p:nvPr/>
          </p:nvSpPr>
          <p:spPr>
            <a:xfrm>
              <a:off x="5419402" y="2360618"/>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03</a:t>
              </a:r>
              <a:endParaRPr b="1" sz="869">
                <a:solidFill>
                  <a:srgbClr val="FFFFFF"/>
                </a:solidFill>
                <a:latin typeface="Roboto"/>
                <a:ea typeface="Roboto"/>
                <a:cs typeface="Roboto"/>
                <a:sym typeface="Roboto"/>
              </a:endParaRPr>
            </a:p>
          </p:txBody>
        </p:sp>
        <p:grpSp>
          <p:nvGrpSpPr>
            <p:cNvPr id="521" name="Google Shape;521;p31"/>
            <p:cNvGrpSpPr/>
            <p:nvPr/>
          </p:nvGrpSpPr>
          <p:grpSpPr>
            <a:xfrm>
              <a:off x="4261689" y="1180926"/>
              <a:ext cx="585001" cy="585530"/>
              <a:chOff x="1967628" y="812211"/>
              <a:chExt cx="588000" cy="588000"/>
            </a:xfrm>
          </p:grpSpPr>
          <p:sp>
            <p:nvSpPr>
              <p:cNvPr id="522" name="Google Shape;522;p31"/>
              <p:cNvSpPr/>
              <p:nvPr/>
            </p:nvSpPr>
            <p:spPr>
              <a:xfrm rot="39023">
                <a:off x="1970909" y="815492"/>
                <a:ext cx="581437" cy="581437"/>
              </a:xfrm>
              <a:prstGeom prst="pie">
                <a:avLst>
                  <a:gd fmla="val 6190354" name="adj1"/>
                  <a:gd fmla="val 14996165" name="adj2"/>
                </a:avLst>
              </a:prstGeom>
              <a:solidFill>
                <a:srgbClr val="155B55"/>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23" name="Google Shape;523;p31"/>
              <p:cNvSpPr/>
              <p:nvPr/>
            </p:nvSpPr>
            <p:spPr>
              <a:xfrm rot="10800000">
                <a:off x="1970875" y="815525"/>
                <a:ext cx="581400" cy="581400"/>
              </a:xfrm>
              <a:prstGeom prst="pie">
                <a:avLst>
                  <a:gd fmla="val 4028252" name="adj1"/>
                  <a:gd fmla="val 17183677" name="adj2"/>
                </a:avLst>
              </a:prstGeom>
              <a:solidFill>
                <a:srgbClr val="155B55"/>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sp>
          <p:nvSpPr>
            <p:cNvPr id="524" name="Google Shape;524;p31"/>
            <p:cNvSpPr txBox="1"/>
            <p:nvPr/>
          </p:nvSpPr>
          <p:spPr>
            <a:xfrm>
              <a:off x="4335750" y="1254446"/>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04</a:t>
              </a:r>
              <a:endParaRPr b="1" sz="869">
                <a:solidFill>
                  <a:srgbClr val="FFFFFF"/>
                </a:solidFill>
                <a:latin typeface="Roboto"/>
                <a:ea typeface="Roboto"/>
                <a:cs typeface="Roboto"/>
                <a:sym typeface="Roboto"/>
              </a:endParaRPr>
            </a:p>
          </p:txBody>
        </p:sp>
      </p:grpSp>
      <p:grpSp>
        <p:nvGrpSpPr>
          <p:cNvPr id="525" name="Google Shape;525;p31"/>
          <p:cNvGrpSpPr/>
          <p:nvPr/>
        </p:nvGrpSpPr>
        <p:grpSpPr>
          <a:xfrm>
            <a:off x="320272" y="2764475"/>
            <a:ext cx="1506352" cy="700565"/>
            <a:chOff x="913105" y="1170483"/>
            <a:chExt cx="2773108" cy="1289700"/>
          </a:xfrm>
        </p:grpSpPr>
        <p:sp>
          <p:nvSpPr>
            <p:cNvPr id="526" name="Google Shape;526;p31"/>
            <p:cNvSpPr txBox="1"/>
            <p:nvPr/>
          </p:nvSpPr>
          <p:spPr>
            <a:xfrm>
              <a:off x="913105" y="1170483"/>
              <a:ext cx="1534500" cy="1289700"/>
            </a:xfrm>
            <a:prstGeom prst="rect">
              <a:avLst/>
            </a:prstGeom>
            <a:noFill/>
            <a:ln>
              <a:noFill/>
            </a:ln>
          </p:spPr>
          <p:txBody>
            <a:bodyPr anchorCtr="0" anchor="ctr" bIns="49650" lIns="49650" spcFirstLastPara="1" rIns="49650" wrap="square" tIns="49650">
              <a:noAutofit/>
            </a:bodyPr>
            <a:lstStyle/>
            <a:p>
              <a:pPr indent="0" lvl="0" marL="0" rtl="0" algn="r">
                <a:spcBef>
                  <a:spcPts val="0"/>
                </a:spcBef>
                <a:spcAft>
                  <a:spcPts val="869"/>
                </a:spcAft>
                <a:buNone/>
              </a:pPr>
              <a:r>
                <a:rPr b="1" lang="en-GB" sz="1000">
                  <a:latin typeface="Roboto"/>
                  <a:ea typeface="Roboto"/>
                  <a:cs typeface="Roboto"/>
                  <a:sym typeface="Roboto"/>
                </a:rPr>
                <a:t>Date Range</a:t>
              </a:r>
              <a:endParaRPr b="1" sz="1000">
                <a:latin typeface="Roboto"/>
                <a:ea typeface="Roboto"/>
                <a:cs typeface="Roboto"/>
                <a:sym typeface="Roboto"/>
              </a:endParaRPr>
            </a:p>
          </p:txBody>
        </p:sp>
        <p:cxnSp>
          <p:nvCxnSpPr>
            <p:cNvPr id="527" name="Google Shape;527;p31"/>
            <p:cNvCxnSpPr/>
            <p:nvPr/>
          </p:nvCxnSpPr>
          <p:spPr>
            <a:xfrm rot="10800000">
              <a:off x="2641913" y="1831625"/>
              <a:ext cx="1044300" cy="0"/>
            </a:xfrm>
            <a:prstGeom prst="straightConnector1">
              <a:avLst/>
            </a:prstGeom>
            <a:noFill/>
            <a:ln cap="flat" cmpd="sng" w="9525">
              <a:solidFill>
                <a:srgbClr val="1F887E"/>
              </a:solidFill>
              <a:prstDash val="solid"/>
              <a:round/>
              <a:headEnd len="sm" w="sm" type="none"/>
              <a:tailEnd len="med" w="med" type="oval"/>
            </a:ln>
          </p:spPr>
        </p:cxnSp>
      </p:grpSp>
      <p:grpSp>
        <p:nvGrpSpPr>
          <p:cNvPr id="528" name="Google Shape;528;p31"/>
          <p:cNvGrpSpPr/>
          <p:nvPr/>
        </p:nvGrpSpPr>
        <p:grpSpPr>
          <a:xfrm>
            <a:off x="-1" y="3664987"/>
            <a:ext cx="1971497" cy="700565"/>
            <a:chOff x="323500" y="2828275"/>
            <a:chExt cx="3629413" cy="1289700"/>
          </a:xfrm>
        </p:grpSpPr>
        <p:sp>
          <p:nvSpPr>
            <p:cNvPr id="529" name="Google Shape;529;p31"/>
            <p:cNvSpPr txBox="1"/>
            <p:nvPr/>
          </p:nvSpPr>
          <p:spPr>
            <a:xfrm>
              <a:off x="323500" y="2828275"/>
              <a:ext cx="2124000" cy="1289700"/>
            </a:xfrm>
            <a:prstGeom prst="rect">
              <a:avLst/>
            </a:prstGeom>
            <a:noFill/>
            <a:ln>
              <a:noFill/>
            </a:ln>
          </p:spPr>
          <p:txBody>
            <a:bodyPr anchorCtr="0" anchor="ctr" bIns="49650" lIns="49650" spcFirstLastPara="1" rIns="49650" wrap="square" tIns="49650">
              <a:noAutofit/>
            </a:bodyPr>
            <a:lstStyle/>
            <a:p>
              <a:pPr indent="0" lvl="0" marL="0" rtl="0" algn="r">
                <a:spcBef>
                  <a:spcPts val="0"/>
                </a:spcBef>
                <a:spcAft>
                  <a:spcPts val="869"/>
                </a:spcAft>
                <a:buNone/>
              </a:pPr>
              <a:r>
                <a:rPr b="1" lang="en-GB" sz="1000">
                  <a:latin typeface="Roboto"/>
                  <a:ea typeface="Roboto"/>
                  <a:cs typeface="Roboto"/>
                  <a:sym typeface="Roboto"/>
                </a:rPr>
                <a:t>Landing Page</a:t>
              </a:r>
              <a:endParaRPr b="1" sz="1000">
                <a:latin typeface="Roboto"/>
                <a:ea typeface="Roboto"/>
                <a:cs typeface="Roboto"/>
                <a:sym typeface="Roboto"/>
              </a:endParaRPr>
            </a:p>
          </p:txBody>
        </p:sp>
        <p:cxnSp>
          <p:nvCxnSpPr>
            <p:cNvPr id="530" name="Google Shape;530;p31"/>
            <p:cNvCxnSpPr/>
            <p:nvPr/>
          </p:nvCxnSpPr>
          <p:spPr>
            <a:xfrm rot="10800000">
              <a:off x="2641913" y="3489425"/>
              <a:ext cx="1311000" cy="0"/>
            </a:xfrm>
            <a:prstGeom prst="straightConnector1">
              <a:avLst/>
            </a:prstGeom>
            <a:noFill/>
            <a:ln cap="flat" cmpd="sng" w="9525">
              <a:solidFill>
                <a:srgbClr val="1D7E75"/>
              </a:solidFill>
              <a:prstDash val="solid"/>
              <a:round/>
              <a:headEnd len="sm" w="sm" type="none"/>
              <a:tailEnd len="med" w="med" type="oval"/>
            </a:ln>
          </p:spPr>
        </p:cxnSp>
      </p:grpSp>
      <p:grpSp>
        <p:nvGrpSpPr>
          <p:cNvPr id="531" name="Google Shape;531;p31"/>
          <p:cNvGrpSpPr/>
          <p:nvPr/>
        </p:nvGrpSpPr>
        <p:grpSpPr>
          <a:xfrm>
            <a:off x="2654251" y="2704651"/>
            <a:ext cx="1961305" cy="700565"/>
            <a:chOff x="5209825" y="1060350"/>
            <a:chExt cx="3610650" cy="1289700"/>
          </a:xfrm>
        </p:grpSpPr>
        <p:sp>
          <p:nvSpPr>
            <p:cNvPr id="532" name="Google Shape;532;p31"/>
            <p:cNvSpPr txBox="1"/>
            <p:nvPr/>
          </p:nvSpPr>
          <p:spPr>
            <a:xfrm>
              <a:off x="6696475" y="1060350"/>
              <a:ext cx="2124000" cy="1289700"/>
            </a:xfrm>
            <a:prstGeom prst="rect">
              <a:avLst/>
            </a:prstGeom>
            <a:noFill/>
            <a:ln>
              <a:noFill/>
            </a:ln>
          </p:spPr>
          <p:txBody>
            <a:bodyPr anchorCtr="0" anchor="ctr" bIns="49650" lIns="49650" spcFirstLastPara="1" rIns="49650" wrap="square" tIns="49650">
              <a:noAutofit/>
            </a:bodyPr>
            <a:lstStyle/>
            <a:p>
              <a:pPr indent="0" lvl="0" marL="0" rtl="0" algn="l">
                <a:spcBef>
                  <a:spcPts val="0"/>
                </a:spcBef>
                <a:spcAft>
                  <a:spcPts val="869"/>
                </a:spcAft>
                <a:buNone/>
              </a:pPr>
              <a:r>
                <a:rPr b="1" lang="en-GB" sz="1000">
                  <a:latin typeface="Roboto"/>
                  <a:ea typeface="Roboto"/>
                  <a:cs typeface="Roboto"/>
                  <a:sym typeface="Roboto"/>
                </a:rPr>
                <a:t>Medium</a:t>
              </a:r>
              <a:endParaRPr b="1" sz="1000">
                <a:latin typeface="Roboto"/>
                <a:ea typeface="Roboto"/>
                <a:cs typeface="Roboto"/>
                <a:sym typeface="Roboto"/>
              </a:endParaRPr>
            </a:p>
          </p:txBody>
        </p:sp>
        <p:cxnSp>
          <p:nvCxnSpPr>
            <p:cNvPr id="533" name="Google Shape;533;p31"/>
            <p:cNvCxnSpPr/>
            <p:nvPr/>
          </p:nvCxnSpPr>
          <p:spPr>
            <a:xfrm>
              <a:off x="5209825" y="1705200"/>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534" name="Google Shape;534;p31"/>
          <p:cNvGrpSpPr/>
          <p:nvPr/>
        </p:nvGrpSpPr>
        <p:grpSpPr>
          <a:xfrm>
            <a:off x="2654251" y="3769377"/>
            <a:ext cx="1961305" cy="700565"/>
            <a:chOff x="5209825" y="3020450"/>
            <a:chExt cx="3610650" cy="1289700"/>
          </a:xfrm>
        </p:grpSpPr>
        <p:sp>
          <p:nvSpPr>
            <p:cNvPr id="535" name="Google Shape;535;p31"/>
            <p:cNvSpPr txBox="1"/>
            <p:nvPr/>
          </p:nvSpPr>
          <p:spPr>
            <a:xfrm>
              <a:off x="6696475" y="3020450"/>
              <a:ext cx="2124000" cy="1289700"/>
            </a:xfrm>
            <a:prstGeom prst="rect">
              <a:avLst/>
            </a:prstGeom>
            <a:noFill/>
            <a:ln>
              <a:noFill/>
            </a:ln>
          </p:spPr>
          <p:txBody>
            <a:bodyPr anchorCtr="0" anchor="ctr" bIns="49650" lIns="49650" spcFirstLastPara="1" rIns="49650" wrap="square" tIns="49650">
              <a:noAutofit/>
            </a:bodyPr>
            <a:lstStyle/>
            <a:p>
              <a:pPr indent="0" lvl="0" marL="0" rtl="0" algn="l">
                <a:spcBef>
                  <a:spcPts val="0"/>
                </a:spcBef>
                <a:spcAft>
                  <a:spcPts val="869"/>
                </a:spcAft>
                <a:buNone/>
              </a:pPr>
              <a:r>
                <a:rPr b="1" lang="en-GB" sz="1000">
                  <a:latin typeface="Roboto"/>
                  <a:ea typeface="Roboto"/>
                  <a:cs typeface="Roboto"/>
                  <a:sym typeface="Roboto"/>
                </a:rPr>
                <a:t>Source</a:t>
              </a:r>
              <a:endParaRPr b="1" sz="1000">
                <a:latin typeface="Roboto"/>
                <a:ea typeface="Roboto"/>
                <a:cs typeface="Roboto"/>
                <a:sym typeface="Roboto"/>
              </a:endParaRPr>
            </a:p>
          </p:txBody>
        </p:sp>
        <p:cxnSp>
          <p:nvCxnSpPr>
            <p:cNvPr id="536" name="Google Shape;536;p31"/>
            <p:cNvCxnSpPr/>
            <p:nvPr/>
          </p:nvCxnSpPr>
          <p:spPr>
            <a:xfrm>
              <a:off x="5209825" y="3648300"/>
              <a:ext cx="1286700" cy="0"/>
            </a:xfrm>
            <a:prstGeom prst="straightConnector1">
              <a:avLst/>
            </a:prstGeom>
            <a:noFill/>
            <a:ln cap="flat" cmpd="sng" w="9525">
              <a:solidFill>
                <a:srgbClr val="1B786F"/>
              </a:solidFill>
              <a:prstDash val="solid"/>
              <a:round/>
              <a:headEnd len="sm" w="sm" type="none"/>
              <a:tailEnd len="med" w="med" type="oval"/>
            </a:ln>
          </p:spPr>
        </p:cxnSp>
      </p:grpSp>
      <p:grpSp>
        <p:nvGrpSpPr>
          <p:cNvPr id="537" name="Google Shape;537;p31"/>
          <p:cNvGrpSpPr/>
          <p:nvPr/>
        </p:nvGrpSpPr>
        <p:grpSpPr>
          <a:xfrm>
            <a:off x="5726381" y="2989982"/>
            <a:ext cx="2047211" cy="2050567"/>
            <a:chOff x="2675582" y="676586"/>
            <a:chExt cx="3793942" cy="3790328"/>
          </a:xfrm>
        </p:grpSpPr>
        <p:sp>
          <p:nvSpPr>
            <p:cNvPr id="538" name="Google Shape;538;p31"/>
            <p:cNvSpPr/>
            <p:nvPr/>
          </p:nvSpPr>
          <p:spPr>
            <a:xfrm rot="-7199815">
              <a:off x="3183352" y="1184485"/>
              <a:ext cx="2774659" cy="2774659"/>
            </a:xfrm>
            <a:prstGeom prst="blockArc">
              <a:avLst>
                <a:gd fmla="val 12622480" name="adj1"/>
                <a:gd fmla="val 18176457" name="adj2"/>
                <a:gd fmla="val 20786" name="adj3"/>
              </a:avLst>
            </a:prstGeom>
            <a:solidFill>
              <a:srgbClr val="122033"/>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39" name="Google Shape;539;p31"/>
            <p:cNvSpPr/>
            <p:nvPr/>
          </p:nvSpPr>
          <p:spPr>
            <a:xfrm rot="-1799815">
              <a:off x="3183352" y="1184357"/>
              <a:ext cx="2774659" cy="2774659"/>
            </a:xfrm>
            <a:prstGeom prst="blockArc">
              <a:avLst>
                <a:gd fmla="val 12622480" name="adj1"/>
                <a:gd fmla="val 18176457" name="adj2"/>
                <a:gd fmla="val 20786" name="adj3"/>
              </a:avLst>
            </a:prstGeom>
            <a:solidFill>
              <a:schemeClr val="lt1"/>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40" name="Google Shape;540;p31"/>
            <p:cNvSpPr/>
            <p:nvPr/>
          </p:nvSpPr>
          <p:spPr>
            <a:xfrm rot="3600185">
              <a:off x="3187094" y="1184439"/>
              <a:ext cx="2774659" cy="2774659"/>
            </a:xfrm>
            <a:prstGeom prst="blockArc">
              <a:avLst>
                <a:gd fmla="val 12564381" name="adj1"/>
                <a:gd fmla="val 18346131" name="adj2"/>
                <a:gd fmla="val 20844" name="adj3"/>
              </a:avLst>
            </a:prstGeom>
            <a:solidFill>
              <a:srgbClr val="B8B0B0"/>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41" name="Google Shape;541;p31"/>
            <p:cNvSpPr/>
            <p:nvPr/>
          </p:nvSpPr>
          <p:spPr>
            <a:xfrm rot="9000185">
              <a:off x="3185977" y="1184485"/>
              <a:ext cx="2774659" cy="2774659"/>
            </a:xfrm>
            <a:prstGeom prst="blockArc">
              <a:avLst>
                <a:gd fmla="val 12622480" name="adj1"/>
                <a:gd fmla="val 18081133" name="adj2"/>
                <a:gd fmla="val 20809" name="adj3"/>
              </a:avLst>
            </a:prstGeom>
            <a:solidFill>
              <a:srgbClr val="6D7170"/>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nvGrpSpPr>
            <p:cNvPr id="542" name="Google Shape;542;p31"/>
            <p:cNvGrpSpPr/>
            <p:nvPr/>
          </p:nvGrpSpPr>
          <p:grpSpPr>
            <a:xfrm rot="5400000">
              <a:off x="5379663" y="2278951"/>
              <a:ext cx="585001" cy="585472"/>
              <a:chOff x="1967628" y="812211"/>
              <a:chExt cx="588000" cy="588000"/>
            </a:xfrm>
          </p:grpSpPr>
          <p:sp>
            <p:nvSpPr>
              <p:cNvPr id="543" name="Google Shape;543;p31"/>
              <p:cNvSpPr/>
              <p:nvPr/>
            </p:nvSpPr>
            <p:spPr>
              <a:xfrm rot="39023">
                <a:off x="1970909" y="815492"/>
                <a:ext cx="581437" cy="581437"/>
              </a:xfrm>
              <a:prstGeom prst="pie">
                <a:avLst>
                  <a:gd fmla="val 6190354" name="adj1"/>
                  <a:gd fmla="val 14996165" name="adj2"/>
                </a:avLst>
              </a:prstGeom>
              <a:solidFill>
                <a:srgbClr val="1B786F"/>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44" name="Google Shape;544;p31"/>
              <p:cNvSpPr/>
              <p:nvPr/>
            </p:nvSpPr>
            <p:spPr>
              <a:xfrm rot="10800000">
                <a:off x="1970875" y="815525"/>
                <a:ext cx="581400" cy="581400"/>
              </a:xfrm>
              <a:prstGeom prst="pie">
                <a:avLst>
                  <a:gd fmla="val 4028252" name="adj1"/>
                  <a:gd fmla="val 17183677" name="adj2"/>
                </a:avLst>
              </a:prstGeom>
              <a:solidFill>
                <a:srgbClr val="1B786F"/>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grpSp>
          <p:nvGrpSpPr>
            <p:cNvPr id="545" name="Google Shape;545;p31"/>
            <p:cNvGrpSpPr/>
            <p:nvPr/>
          </p:nvGrpSpPr>
          <p:grpSpPr>
            <a:xfrm rot="10800000">
              <a:off x="4280709" y="3378529"/>
              <a:ext cx="585001" cy="585472"/>
              <a:chOff x="1967628" y="812211"/>
              <a:chExt cx="588000" cy="588000"/>
            </a:xfrm>
          </p:grpSpPr>
          <p:sp>
            <p:nvSpPr>
              <p:cNvPr id="546" name="Google Shape;546;p31"/>
              <p:cNvSpPr/>
              <p:nvPr/>
            </p:nvSpPr>
            <p:spPr>
              <a:xfrm rot="39023">
                <a:off x="1970909" y="815492"/>
                <a:ext cx="581437" cy="581437"/>
              </a:xfrm>
              <a:prstGeom prst="pie">
                <a:avLst>
                  <a:gd fmla="val 6190354" name="adj1"/>
                  <a:gd fmla="val 14996165" name="adj2"/>
                </a:avLst>
              </a:prstGeom>
              <a:solidFill>
                <a:srgbClr val="1D7E75"/>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47" name="Google Shape;547;p31"/>
              <p:cNvSpPr/>
              <p:nvPr/>
            </p:nvSpPr>
            <p:spPr>
              <a:xfrm rot="10800000">
                <a:off x="1970875" y="815525"/>
                <a:ext cx="581400" cy="581400"/>
              </a:xfrm>
              <a:prstGeom prst="pie">
                <a:avLst>
                  <a:gd fmla="val 4028252" name="adj1"/>
                  <a:gd fmla="val 17183677" name="adj2"/>
                </a:avLst>
              </a:prstGeom>
              <a:solidFill>
                <a:srgbClr val="1D7E75"/>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grpSp>
          <p:nvGrpSpPr>
            <p:cNvPr id="548" name="Google Shape;548;p31"/>
            <p:cNvGrpSpPr/>
            <p:nvPr/>
          </p:nvGrpSpPr>
          <p:grpSpPr>
            <a:xfrm rot="-5400000">
              <a:off x="3179922" y="2281478"/>
              <a:ext cx="585001" cy="585472"/>
              <a:chOff x="1967628" y="812211"/>
              <a:chExt cx="588000" cy="588000"/>
            </a:xfrm>
          </p:grpSpPr>
          <p:sp>
            <p:nvSpPr>
              <p:cNvPr id="549" name="Google Shape;549;p31"/>
              <p:cNvSpPr/>
              <p:nvPr/>
            </p:nvSpPr>
            <p:spPr>
              <a:xfrm rot="39023">
                <a:off x="1970909" y="815492"/>
                <a:ext cx="581437" cy="581437"/>
              </a:xfrm>
              <a:prstGeom prst="pie">
                <a:avLst>
                  <a:gd fmla="val 6190354" name="adj1"/>
                  <a:gd fmla="val 14996165" name="adj2"/>
                </a:avLst>
              </a:prstGeom>
              <a:solidFill>
                <a:srgbClr val="1F887E"/>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50" name="Google Shape;550;p31"/>
              <p:cNvSpPr/>
              <p:nvPr/>
            </p:nvSpPr>
            <p:spPr>
              <a:xfrm rot="10800000">
                <a:off x="1970875" y="815525"/>
                <a:ext cx="581400" cy="581400"/>
              </a:xfrm>
              <a:prstGeom prst="pie">
                <a:avLst>
                  <a:gd fmla="val 4028252" name="adj1"/>
                  <a:gd fmla="val 17183677" name="adj2"/>
                </a:avLst>
              </a:prstGeom>
              <a:solidFill>
                <a:srgbClr val="1F887E"/>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sp>
          <p:nvSpPr>
            <p:cNvPr id="551" name="Google Shape;551;p31"/>
            <p:cNvSpPr txBox="1"/>
            <p:nvPr/>
          </p:nvSpPr>
          <p:spPr>
            <a:xfrm>
              <a:off x="3214513" y="2360618"/>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05</a:t>
              </a:r>
              <a:endParaRPr b="1" sz="869">
                <a:solidFill>
                  <a:srgbClr val="FFFFFF"/>
                </a:solidFill>
                <a:latin typeface="Roboto"/>
                <a:ea typeface="Roboto"/>
                <a:cs typeface="Roboto"/>
                <a:sym typeface="Roboto"/>
              </a:endParaRPr>
            </a:p>
          </p:txBody>
        </p:sp>
        <p:sp>
          <p:nvSpPr>
            <p:cNvPr id="552" name="Google Shape;552;p31"/>
            <p:cNvSpPr txBox="1"/>
            <p:nvPr/>
          </p:nvSpPr>
          <p:spPr>
            <a:xfrm>
              <a:off x="4335750" y="3460301"/>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06</a:t>
              </a:r>
              <a:endParaRPr b="1" sz="869">
                <a:solidFill>
                  <a:srgbClr val="FFFFFF"/>
                </a:solidFill>
                <a:latin typeface="Roboto"/>
                <a:ea typeface="Roboto"/>
                <a:cs typeface="Roboto"/>
                <a:sym typeface="Roboto"/>
              </a:endParaRPr>
            </a:p>
          </p:txBody>
        </p:sp>
        <p:sp>
          <p:nvSpPr>
            <p:cNvPr id="553" name="Google Shape;553;p31"/>
            <p:cNvSpPr txBox="1"/>
            <p:nvPr/>
          </p:nvSpPr>
          <p:spPr>
            <a:xfrm>
              <a:off x="5419402" y="2360618"/>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07</a:t>
              </a:r>
              <a:endParaRPr b="1" sz="869">
                <a:solidFill>
                  <a:srgbClr val="FFFFFF"/>
                </a:solidFill>
                <a:latin typeface="Roboto"/>
                <a:ea typeface="Roboto"/>
                <a:cs typeface="Roboto"/>
                <a:sym typeface="Roboto"/>
              </a:endParaRPr>
            </a:p>
          </p:txBody>
        </p:sp>
        <p:grpSp>
          <p:nvGrpSpPr>
            <p:cNvPr id="554" name="Google Shape;554;p31"/>
            <p:cNvGrpSpPr/>
            <p:nvPr/>
          </p:nvGrpSpPr>
          <p:grpSpPr>
            <a:xfrm>
              <a:off x="4261689" y="1180926"/>
              <a:ext cx="585001" cy="585530"/>
              <a:chOff x="1967628" y="812211"/>
              <a:chExt cx="588000" cy="588000"/>
            </a:xfrm>
          </p:grpSpPr>
          <p:sp>
            <p:nvSpPr>
              <p:cNvPr id="555" name="Google Shape;555;p31"/>
              <p:cNvSpPr/>
              <p:nvPr/>
            </p:nvSpPr>
            <p:spPr>
              <a:xfrm rot="39023">
                <a:off x="1970909" y="815492"/>
                <a:ext cx="581437" cy="581437"/>
              </a:xfrm>
              <a:prstGeom prst="pie">
                <a:avLst>
                  <a:gd fmla="val 6190354" name="adj1"/>
                  <a:gd fmla="val 14996165" name="adj2"/>
                </a:avLst>
              </a:prstGeom>
              <a:solidFill>
                <a:srgbClr val="155B55"/>
              </a:solidFill>
              <a:ln>
                <a:noFill/>
              </a:ln>
              <a:effectLst>
                <a:outerShdw blurRad="77612" rotWithShape="0" algn="bl">
                  <a:srgbClr val="000000">
                    <a:alpha val="43000"/>
                  </a:srgbClr>
                </a:outerShdw>
              </a:effectLst>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sp>
            <p:nvSpPr>
              <p:cNvPr id="556" name="Google Shape;556;p31"/>
              <p:cNvSpPr/>
              <p:nvPr/>
            </p:nvSpPr>
            <p:spPr>
              <a:xfrm rot="10800000">
                <a:off x="1970875" y="815525"/>
                <a:ext cx="581400" cy="581400"/>
              </a:xfrm>
              <a:prstGeom prst="pie">
                <a:avLst>
                  <a:gd fmla="val 4028252" name="adj1"/>
                  <a:gd fmla="val 17183677" name="adj2"/>
                </a:avLst>
              </a:prstGeom>
              <a:solidFill>
                <a:srgbClr val="155B55"/>
              </a:solidFill>
              <a:ln>
                <a:noFill/>
              </a:ln>
            </p:spPr>
            <p:txBody>
              <a:bodyPr anchorCtr="0" anchor="ctr" bIns="49650" lIns="49650" spcFirstLastPara="1" rIns="49650" wrap="square" tIns="49650">
                <a:noAutofit/>
              </a:bodyPr>
              <a:lstStyle/>
              <a:p>
                <a:pPr indent="0" lvl="0" marL="0" rtl="0" algn="l">
                  <a:spcBef>
                    <a:spcPts val="0"/>
                  </a:spcBef>
                  <a:spcAft>
                    <a:spcPts val="0"/>
                  </a:spcAft>
                  <a:buNone/>
                </a:pPr>
                <a:r>
                  <a:t/>
                </a:r>
                <a:endParaRPr/>
              </a:p>
            </p:txBody>
          </p:sp>
        </p:grpSp>
        <p:sp>
          <p:nvSpPr>
            <p:cNvPr id="557" name="Google Shape;557;p31"/>
            <p:cNvSpPr txBox="1"/>
            <p:nvPr/>
          </p:nvSpPr>
          <p:spPr>
            <a:xfrm>
              <a:off x="4335750" y="1254446"/>
              <a:ext cx="507900" cy="266100"/>
            </a:xfrm>
            <a:prstGeom prst="rect">
              <a:avLst/>
            </a:prstGeom>
            <a:noFill/>
            <a:ln>
              <a:noFill/>
            </a:ln>
          </p:spPr>
          <p:txBody>
            <a:bodyPr anchorCtr="0" anchor="t" bIns="49650" lIns="49650" spcFirstLastPara="1" rIns="49650" wrap="square" tIns="49650">
              <a:noAutofit/>
            </a:bodyPr>
            <a:lstStyle/>
            <a:p>
              <a:pPr indent="0" lvl="0" marL="0" rtl="0" algn="ctr">
                <a:spcBef>
                  <a:spcPts val="0"/>
                </a:spcBef>
                <a:spcAft>
                  <a:spcPts val="0"/>
                </a:spcAft>
                <a:buNone/>
              </a:pPr>
              <a:r>
                <a:rPr b="1" lang="en-GB" sz="869">
                  <a:solidFill>
                    <a:srgbClr val="FFFFFF"/>
                  </a:solidFill>
                  <a:latin typeface="Roboto"/>
                  <a:ea typeface="Roboto"/>
                  <a:cs typeface="Roboto"/>
                  <a:sym typeface="Roboto"/>
                </a:rPr>
                <a:t>08</a:t>
              </a:r>
              <a:endParaRPr b="1" sz="869">
                <a:solidFill>
                  <a:srgbClr val="FFFFFF"/>
                </a:solidFill>
                <a:latin typeface="Roboto"/>
                <a:ea typeface="Roboto"/>
                <a:cs typeface="Roboto"/>
                <a:sym typeface="Roboto"/>
              </a:endParaRPr>
            </a:p>
          </p:txBody>
        </p:sp>
      </p:grpSp>
      <p:grpSp>
        <p:nvGrpSpPr>
          <p:cNvPr id="558" name="Google Shape;558;p31"/>
          <p:cNvGrpSpPr/>
          <p:nvPr/>
        </p:nvGrpSpPr>
        <p:grpSpPr>
          <a:xfrm>
            <a:off x="4761747" y="3228100"/>
            <a:ext cx="1506352" cy="700565"/>
            <a:chOff x="913105" y="1170483"/>
            <a:chExt cx="2773108" cy="1289700"/>
          </a:xfrm>
        </p:grpSpPr>
        <p:sp>
          <p:nvSpPr>
            <p:cNvPr id="559" name="Google Shape;559;p31"/>
            <p:cNvSpPr txBox="1"/>
            <p:nvPr/>
          </p:nvSpPr>
          <p:spPr>
            <a:xfrm>
              <a:off x="913105" y="1170483"/>
              <a:ext cx="1534500" cy="1289700"/>
            </a:xfrm>
            <a:prstGeom prst="rect">
              <a:avLst/>
            </a:prstGeom>
            <a:noFill/>
            <a:ln>
              <a:noFill/>
            </a:ln>
          </p:spPr>
          <p:txBody>
            <a:bodyPr anchorCtr="0" anchor="ctr" bIns="49650" lIns="49650" spcFirstLastPara="1" rIns="49650" wrap="square" tIns="49650">
              <a:noAutofit/>
            </a:bodyPr>
            <a:lstStyle/>
            <a:p>
              <a:pPr indent="0" lvl="0" marL="0" rtl="0" algn="r">
                <a:spcBef>
                  <a:spcPts val="0"/>
                </a:spcBef>
                <a:spcAft>
                  <a:spcPts val="869"/>
                </a:spcAft>
                <a:buNone/>
              </a:pPr>
              <a:r>
                <a:rPr b="1" lang="en-GB" sz="1000">
                  <a:latin typeface="Roboto"/>
                  <a:ea typeface="Roboto"/>
                  <a:cs typeface="Roboto"/>
                  <a:sym typeface="Roboto"/>
                </a:rPr>
                <a:t>Campaign</a:t>
              </a:r>
              <a:endParaRPr b="1" sz="1000">
                <a:latin typeface="Roboto"/>
                <a:ea typeface="Roboto"/>
                <a:cs typeface="Roboto"/>
                <a:sym typeface="Roboto"/>
              </a:endParaRPr>
            </a:p>
          </p:txBody>
        </p:sp>
        <p:cxnSp>
          <p:nvCxnSpPr>
            <p:cNvPr id="560" name="Google Shape;560;p31"/>
            <p:cNvCxnSpPr/>
            <p:nvPr/>
          </p:nvCxnSpPr>
          <p:spPr>
            <a:xfrm rot="10800000">
              <a:off x="2641913" y="1831625"/>
              <a:ext cx="1044300" cy="0"/>
            </a:xfrm>
            <a:prstGeom prst="straightConnector1">
              <a:avLst/>
            </a:prstGeom>
            <a:noFill/>
            <a:ln cap="flat" cmpd="sng" w="9525">
              <a:solidFill>
                <a:srgbClr val="1F887E"/>
              </a:solidFill>
              <a:prstDash val="solid"/>
              <a:round/>
              <a:headEnd len="sm" w="sm" type="none"/>
              <a:tailEnd len="med" w="med" type="oval"/>
            </a:ln>
          </p:spPr>
        </p:cxnSp>
      </p:grpSp>
      <p:grpSp>
        <p:nvGrpSpPr>
          <p:cNvPr id="561" name="Google Shape;561;p31"/>
          <p:cNvGrpSpPr/>
          <p:nvPr/>
        </p:nvGrpSpPr>
        <p:grpSpPr>
          <a:xfrm>
            <a:off x="4441474" y="4128612"/>
            <a:ext cx="1971497" cy="700565"/>
            <a:chOff x="323500" y="2828275"/>
            <a:chExt cx="3629413" cy="1289700"/>
          </a:xfrm>
        </p:grpSpPr>
        <p:sp>
          <p:nvSpPr>
            <p:cNvPr id="562" name="Google Shape;562;p31"/>
            <p:cNvSpPr txBox="1"/>
            <p:nvPr/>
          </p:nvSpPr>
          <p:spPr>
            <a:xfrm>
              <a:off x="323500" y="2828275"/>
              <a:ext cx="2124000" cy="1289700"/>
            </a:xfrm>
            <a:prstGeom prst="rect">
              <a:avLst/>
            </a:prstGeom>
            <a:noFill/>
            <a:ln>
              <a:noFill/>
            </a:ln>
          </p:spPr>
          <p:txBody>
            <a:bodyPr anchorCtr="0" anchor="ctr" bIns="49650" lIns="49650" spcFirstLastPara="1" rIns="49650" wrap="square" tIns="49650">
              <a:noAutofit/>
            </a:bodyPr>
            <a:lstStyle/>
            <a:p>
              <a:pPr indent="0" lvl="0" marL="0" rtl="0" algn="r">
                <a:spcBef>
                  <a:spcPts val="0"/>
                </a:spcBef>
                <a:spcAft>
                  <a:spcPts val="869"/>
                </a:spcAft>
                <a:buNone/>
              </a:pPr>
              <a:r>
                <a:rPr b="1" lang="en-GB" sz="1000">
                  <a:latin typeface="Roboto"/>
                  <a:ea typeface="Roboto"/>
                  <a:cs typeface="Roboto"/>
                  <a:sym typeface="Roboto"/>
                </a:rPr>
                <a:t>Device Category</a:t>
              </a:r>
              <a:endParaRPr b="1" sz="1000">
                <a:latin typeface="Roboto"/>
                <a:ea typeface="Roboto"/>
                <a:cs typeface="Roboto"/>
                <a:sym typeface="Roboto"/>
              </a:endParaRPr>
            </a:p>
          </p:txBody>
        </p:sp>
        <p:cxnSp>
          <p:nvCxnSpPr>
            <p:cNvPr id="563" name="Google Shape;563;p31"/>
            <p:cNvCxnSpPr/>
            <p:nvPr/>
          </p:nvCxnSpPr>
          <p:spPr>
            <a:xfrm rot="10800000">
              <a:off x="2641913" y="3489425"/>
              <a:ext cx="1311000" cy="0"/>
            </a:xfrm>
            <a:prstGeom prst="straightConnector1">
              <a:avLst/>
            </a:prstGeom>
            <a:noFill/>
            <a:ln cap="flat" cmpd="sng" w="9525">
              <a:solidFill>
                <a:srgbClr val="1D7E75"/>
              </a:solidFill>
              <a:prstDash val="solid"/>
              <a:round/>
              <a:headEnd len="sm" w="sm" type="none"/>
              <a:tailEnd len="med" w="med" type="oval"/>
            </a:ln>
          </p:spPr>
        </p:cxnSp>
      </p:grpSp>
      <p:grpSp>
        <p:nvGrpSpPr>
          <p:cNvPr id="564" name="Google Shape;564;p31"/>
          <p:cNvGrpSpPr/>
          <p:nvPr/>
        </p:nvGrpSpPr>
        <p:grpSpPr>
          <a:xfrm>
            <a:off x="7095726" y="3168276"/>
            <a:ext cx="1961305" cy="700565"/>
            <a:chOff x="5209825" y="1060350"/>
            <a:chExt cx="3610650" cy="1289700"/>
          </a:xfrm>
        </p:grpSpPr>
        <p:sp>
          <p:nvSpPr>
            <p:cNvPr id="565" name="Google Shape;565;p31"/>
            <p:cNvSpPr txBox="1"/>
            <p:nvPr/>
          </p:nvSpPr>
          <p:spPr>
            <a:xfrm>
              <a:off x="6696475" y="1060350"/>
              <a:ext cx="2124000" cy="1289700"/>
            </a:xfrm>
            <a:prstGeom prst="rect">
              <a:avLst/>
            </a:prstGeom>
            <a:noFill/>
            <a:ln>
              <a:noFill/>
            </a:ln>
          </p:spPr>
          <p:txBody>
            <a:bodyPr anchorCtr="0" anchor="ctr" bIns="49650" lIns="49650" spcFirstLastPara="1" rIns="49650" wrap="square" tIns="49650">
              <a:noAutofit/>
            </a:bodyPr>
            <a:lstStyle/>
            <a:p>
              <a:pPr indent="0" lvl="0" marL="0" rtl="0" algn="l">
                <a:spcBef>
                  <a:spcPts val="0"/>
                </a:spcBef>
                <a:spcAft>
                  <a:spcPts val="869"/>
                </a:spcAft>
                <a:buNone/>
              </a:pPr>
              <a:r>
                <a:rPr b="1" lang="en-GB" sz="1000">
                  <a:latin typeface="Roboto"/>
                  <a:ea typeface="Roboto"/>
                  <a:cs typeface="Roboto"/>
                  <a:sym typeface="Roboto"/>
                </a:rPr>
                <a:t>Operating System</a:t>
              </a:r>
              <a:endParaRPr b="1" sz="1000">
                <a:latin typeface="Roboto"/>
                <a:ea typeface="Roboto"/>
                <a:cs typeface="Roboto"/>
                <a:sym typeface="Roboto"/>
              </a:endParaRPr>
            </a:p>
          </p:txBody>
        </p:sp>
        <p:cxnSp>
          <p:nvCxnSpPr>
            <p:cNvPr id="566" name="Google Shape;566;p31"/>
            <p:cNvCxnSpPr/>
            <p:nvPr/>
          </p:nvCxnSpPr>
          <p:spPr>
            <a:xfrm>
              <a:off x="5209825" y="1705200"/>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567" name="Google Shape;567;p31"/>
          <p:cNvGrpSpPr/>
          <p:nvPr/>
        </p:nvGrpSpPr>
        <p:grpSpPr>
          <a:xfrm>
            <a:off x="7095726" y="4233002"/>
            <a:ext cx="1961305" cy="700565"/>
            <a:chOff x="5209825" y="3020450"/>
            <a:chExt cx="3610650" cy="1289700"/>
          </a:xfrm>
        </p:grpSpPr>
        <p:sp>
          <p:nvSpPr>
            <p:cNvPr id="568" name="Google Shape;568;p31"/>
            <p:cNvSpPr txBox="1"/>
            <p:nvPr/>
          </p:nvSpPr>
          <p:spPr>
            <a:xfrm>
              <a:off x="6696475" y="3020450"/>
              <a:ext cx="2124000" cy="1289700"/>
            </a:xfrm>
            <a:prstGeom prst="rect">
              <a:avLst/>
            </a:prstGeom>
            <a:noFill/>
            <a:ln>
              <a:noFill/>
            </a:ln>
          </p:spPr>
          <p:txBody>
            <a:bodyPr anchorCtr="0" anchor="ctr" bIns="49650" lIns="49650" spcFirstLastPara="1" rIns="49650" wrap="square" tIns="49650">
              <a:noAutofit/>
            </a:bodyPr>
            <a:lstStyle/>
            <a:p>
              <a:pPr indent="0" lvl="0" marL="0" rtl="0" algn="l">
                <a:spcBef>
                  <a:spcPts val="0"/>
                </a:spcBef>
                <a:spcAft>
                  <a:spcPts val="869"/>
                </a:spcAft>
                <a:buNone/>
              </a:pPr>
              <a:r>
                <a:rPr b="1" lang="en-GB" sz="1000">
                  <a:latin typeface="Roboto"/>
                  <a:ea typeface="Roboto"/>
                  <a:cs typeface="Roboto"/>
                  <a:sym typeface="Roboto"/>
                </a:rPr>
                <a:t>Language</a:t>
              </a:r>
              <a:endParaRPr b="1" sz="1000">
                <a:latin typeface="Roboto"/>
                <a:ea typeface="Roboto"/>
                <a:cs typeface="Roboto"/>
                <a:sym typeface="Roboto"/>
              </a:endParaRPr>
            </a:p>
          </p:txBody>
        </p:sp>
        <p:cxnSp>
          <p:nvCxnSpPr>
            <p:cNvPr id="569" name="Google Shape;569;p31"/>
            <p:cNvCxnSpPr/>
            <p:nvPr/>
          </p:nvCxnSpPr>
          <p:spPr>
            <a:xfrm>
              <a:off x="5209825" y="3648300"/>
              <a:ext cx="1286700" cy="0"/>
            </a:xfrm>
            <a:prstGeom prst="straightConnector1">
              <a:avLst/>
            </a:prstGeom>
            <a:noFill/>
            <a:ln cap="flat" cmpd="sng" w="9525">
              <a:solidFill>
                <a:srgbClr val="1B786F"/>
              </a:solidFill>
              <a:prstDash val="solid"/>
              <a:round/>
              <a:headEnd len="sm" w="sm" type="none"/>
              <a:tailEnd len="med" w="med" type="oval"/>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Design Principles</a:t>
            </a:r>
            <a:endParaRPr>
              <a:solidFill>
                <a:schemeClr val="lt1"/>
              </a:solidFill>
            </a:endParaRPr>
          </a:p>
        </p:txBody>
      </p:sp>
      <p:sp>
        <p:nvSpPr>
          <p:cNvPr id="575" name="Google Shape;575;p32"/>
          <p:cNvSpPr txBox="1"/>
          <p:nvPr>
            <p:ph idx="1" type="body"/>
          </p:nvPr>
        </p:nvSpPr>
        <p:spPr>
          <a:xfrm>
            <a:off x="1303800" y="1326725"/>
            <a:ext cx="7030500" cy="114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lt1"/>
                </a:solidFill>
              </a:rPr>
              <a:t>The dashboard was designed according to clear visualization principles. KPI cards were placed at the top to support the five-second rule, the most important charts were positioned prominently, labels and metric names were kept clear, and a consistent color scheme was used throughout the dashboard.</a:t>
            </a:r>
            <a:endParaRPr>
              <a:solidFill>
                <a:schemeClr val="lt1"/>
              </a:solidFill>
            </a:endParaRPr>
          </a:p>
        </p:txBody>
      </p:sp>
      <p:sp>
        <p:nvSpPr>
          <p:cNvPr id="576" name="Google Shape;576;p32"/>
          <p:cNvSpPr/>
          <p:nvPr/>
        </p:nvSpPr>
        <p:spPr>
          <a:xfrm>
            <a:off x="1681575" y="2472725"/>
            <a:ext cx="1134300" cy="1073700"/>
          </a:xfrm>
          <a:prstGeom prst="flowChartConnec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rgbClr val="122033"/>
                </a:solidFill>
              </a:rPr>
              <a:t>5-second principle</a:t>
            </a:r>
            <a:endParaRPr sz="1000">
              <a:latin typeface="Nunito"/>
              <a:ea typeface="Nunito"/>
              <a:cs typeface="Nunito"/>
              <a:sym typeface="Nunito"/>
            </a:endParaRPr>
          </a:p>
        </p:txBody>
      </p:sp>
      <p:sp>
        <p:nvSpPr>
          <p:cNvPr id="577" name="Google Shape;577;p32"/>
          <p:cNvSpPr/>
          <p:nvPr/>
        </p:nvSpPr>
        <p:spPr>
          <a:xfrm>
            <a:off x="3150175" y="2472725"/>
            <a:ext cx="1134300" cy="1073700"/>
          </a:xfrm>
          <a:prstGeom prst="flowChartConnec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122033"/>
              </a:buClr>
              <a:buSzPts val="1250"/>
              <a:buFont typeface="Arial"/>
              <a:buNone/>
            </a:pPr>
            <a:r>
              <a:rPr b="1" lang="en-GB" sz="1000">
                <a:solidFill>
                  <a:srgbClr val="122033"/>
                </a:solidFill>
              </a:rPr>
              <a:t>Important information first</a:t>
            </a:r>
            <a:endParaRPr sz="1000">
              <a:latin typeface="Nunito"/>
              <a:ea typeface="Nunito"/>
              <a:cs typeface="Nunito"/>
              <a:sym typeface="Nunito"/>
            </a:endParaRPr>
          </a:p>
        </p:txBody>
      </p:sp>
      <p:sp>
        <p:nvSpPr>
          <p:cNvPr id="578" name="Google Shape;578;p32"/>
          <p:cNvSpPr/>
          <p:nvPr/>
        </p:nvSpPr>
        <p:spPr>
          <a:xfrm>
            <a:off x="4572000" y="2472725"/>
            <a:ext cx="1134300" cy="1073700"/>
          </a:xfrm>
          <a:prstGeom prst="flowChartConnec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rgbClr val="122033"/>
                </a:solidFill>
              </a:rPr>
              <a:t>Clear labels</a:t>
            </a:r>
            <a:endParaRPr b="1" sz="1000">
              <a:solidFill>
                <a:srgbClr val="122033"/>
              </a:solidFill>
            </a:endParaRPr>
          </a:p>
        </p:txBody>
      </p:sp>
      <p:sp>
        <p:nvSpPr>
          <p:cNvPr id="579" name="Google Shape;579;p32"/>
          <p:cNvSpPr/>
          <p:nvPr/>
        </p:nvSpPr>
        <p:spPr>
          <a:xfrm>
            <a:off x="5993825" y="2472725"/>
            <a:ext cx="1134300" cy="1073700"/>
          </a:xfrm>
          <a:prstGeom prst="flowChartConnec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rgbClr val="122033"/>
                </a:solidFill>
              </a:rPr>
              <a:t>Consistent color scheme</a:t>
            </a:r>
            <a:endParaRPr b="1" sz="900">
              <a:solidFill>
                <a:srgbClr val="122033"/>
              </a:solidFill>
            </a:endParaRPr>
          </a:p>
        </p:txBody>
      </p:sp>
      <p:sp>
        <p:nvSpPr>
          <p:cNvPr id="580" name="Google Shape;580;p32"/>
          <p:cNvSpPr/>
          <p:nvPr/>
        </p:nvSpPr>
        <p:spPr>
          <a:xfrm>
            <a:off x="1681575" y="3666250"/>
            <a:ext cx="1134300" cy="7187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rgbClr val="39475A"/>
                </a:solidFill>
              </a:rPr>
              <a:t>KPIs are placed at the top for instant understanding.</a:t>
            </a:r>
            <a:endParaRPr sz="900">
              <a:latin typeface="Nunito"/>
              <a:ea typeface="Nunito"/>
              <a:cs typeface="Nunito"/>
              <a:sym typeface="Nunito"/>
            </a:endParaRPr>
          </a:p>
        </p:txBody>
      </p:sp>
      <p:sp>
        <p:nvSpPr>
          <p:cNvPr id="581" name="Google Shape;581;p32"/>
          <p:cNvSpPr/>
          <p:nvPr/>
        </p:nvSpPr>
        <p:spPr>
          <a:xfrm>
            <a:off x="3150175" y="3666250"/>
            <a:ext cx="1134300" cy="7187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rgbClr val="39475A"/>
                </a:solidFill>
              </a:rPr>
              <a:t>Funnel and trend visuals appear before detailed breakdowns.</a:t>
            </a:r>
            <a:endParaRPr sz="900">
              <a:solidFill>
                <a:srgbClr val="39475A"/>
              </a:solidFill>
            </a:endParaRPr>
          </a:p>
        </p:txBody>
      </p:sp>
      <p:sp>
        <p:nvSpPr>
          <p:cNvPr id="582" name="Google Shape;582;p32"/>
          <p:cNvSpPr/>
          <p:nvPr/>
        </p:nvSpPr>
        <p:spPr>
          <a:xfrm>
            <a:off x="4572000" y="3666250"/>
            <a:ext cx="1134300" cy="7187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rgbClr val="39475A"/>
                </a:solidFill>
              </a:rPr>
              <a:t>Charts use descriptive English titles and readable metric names.</a:t>
            </a:r>
            <a:endParaRPr sz="900">
              <a:solidFill>
                <a:srgbClr val="39475A"/>
              </a:solidFill>
            </a:endParaRPr>
          </a:p>
        </p:txBody>
      </p:sp>
      <p:sp>
        <p:nvSpPr>
          <p:cNvPr id="583" name="Google Shape;583;p32"/>
          <p:cNvSpPr/>
          <p:nvPr/>
        </p:nvSpPr>
        <p:spPr>
          <a:xfrm>
            <a:off x="5993825" y="3666250"/>
            <a:ext cx="1134300" cy="7187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rgbClr val="39475A"/>
                </a:solidFill>
              </a:rPr>
              <a:t>One restrained palette is used across the dashboard.</a:t>
            </a:r>
            <a:endParaRPr sz="900">
              <a:solidFill>
                <a:srgbClr val="39475A"/>
              </a:solidFill>
            </a:endParaRPr>
          </a:p>
        </p:txBody>
      </p:sp>
      <p:cxnSp>
        <p:nvCxnSpPr>
          <p:cNvPr id="584" name="Google Shape;584;p32"/>
          <p:cNvCxnSpPr>
            <a:stCxn id="576" idx="4"/>
            <a:endCxn id="580" idx="0"/>
          </p:cNvCxnSpPr>
          <p:nvPr/>
        </p:nvCxnSpPr>
        <p:spPr>
          <a:xfrm>
            <a:off x="2248725" y="3546425"/>
            <a:ext cx="0" cy="1197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32"/>
          <p:cNvCxnSpPr>
            <a:stCxn id="577" idx="4"/>
            <a:endCxn id="581" idx="0"/>
          </p:cNvCxnSpPr>
          <p:nvPr/>
        </p:nvCxnSpPr>
        <p:spPr>
          <a:xfrm>
            <a:off x="3717325" y="3546425"/>
            <a:ext cx="0" cy="119700"/>
          </a:xfrm>
          <a:prstGeom prst="straightConnector1">
            <a:avLst/>
          </a:prstGeom>
          <a:noFill/>
          <a:ln cap="flat" cmpd="sng" w="9525">
            <a:solidFill>
              <a:schemeClr val="dk2"/>
            </a:solidFill>
            <a:prstDash val="solid"/>
            <a:round/>
            <a:headEnd len="med" w="med" type="none"/>
            <a:tailEnd len="med" w="med" type="none"/>
          </a:ln>
        </p:spPr>
      </p:cxnSp>
      <p:cxnSp>
        <p:nvCxnSpPr>
          <p:cNvPr id="586" name="Google Shape;586;p32"/>
          <p:cNvCxnSpPr>
            <a:stCxn id="578" idx="4"/>
            <a:endCxn id="582" idx="0"/>
          </p:cNvCxnSpPr>
          <p:nvPr/>
        </p:nvCxnSpPr>
        <p:spPr>
          <a:xfrm>
            <a:off x="5139150" y="3546425"/>
            <a:ext cx="0" cy="119700"/>
          </a:xfrm>
          <a:prstGeom prst="straightConnector1">
            <a:avLst/>
          </a:prstGeom>
          <a:noFill/>
          <a:ln cap="flat" cmpd="sng" w="9525">
            <a:solidFill>
              <a:schemeClr val="dk2"/>
            </a:solidFill>
            <a:prstDash val="solid"/>
            <a:round/>
            <a:headEnd len="med" w="med" type="none"/>
            <a:tailEnd len="med" w="med" type="none"/>
          </a:ln>
        </p:spPr>
      </p:cxnSp>
      <p:cxnSp>
        <p:nvCxnSpPr>
          <p:cNvPr id="587" name="Google Shape;587;p32"/>
          <p:cNvCxnSpPr>
            <a:stCxn id="579" idx="4"/>
            <a:endCxn id="583" idx="0"/>
          </p:cNvCxnSpPr>
          <p:nvPr/>
        </p:nvCxnSpPr>
        <p:spPr>
          <a:xfrm>
            <a:off x="6560975" y="3546425"/>
            <a:ext cx="0" cy="119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Conclusion</a:t>
            </a:r>
            <a:endParaRPr>
              <a:solidFill>
                <a:schemeClr val="lt1"/>
              </a:solidFill>
            </a:endParaRPr>
          </a:p>
        </p:txBody>
      </p:sp>
      <p:sp>
        <p:nvSpPr>
          <p:cNvPr id="593" name="Google Shape;593;p3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lt1"/>
                </a:solidFill>
              </a:rPr>
              <a:t>This project demonstrates how GA4 BigQuery data can be transformed with SQL and presented through an interactive Looker Studio dashboard. The dashboard helps analyze e-commerce performance, user behavior, revenue trends, conversion funnel steps, landing pages, traffic sources, and device-based conversion rates.</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4"/>
          <p:cNvSpPr txBox="1"/>
          <p:nvPr>
            <p:ph type="ctrTitle"/>
          </p:nvPr>
        </p:nvSpPr>
        <p:spPr>
          <a:xfrm>
            <a:off x="225450" y="319700"/>
            <a:ext cx="5507400" cy="11742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4000">
                <a:latin typeface="Play"/>
                <a:ea typeface="Play"/>
                <a:cs typeface="Play"/>
                <a:sym typeface="Play"/>
              </a:rPr>
              <a:t>GA4 E-commerce</a:t>
            </a:r>
            <a:endParaRPr b="0" sz="4000">
              <a:solidFill>
                <a:srgbClr val="000000"/>
              </a:solidFill>
              <a:latin typeface="Arial"/>
              <a:ea typeface="Arial"/>
              <a:cs typeface="Arial"/>
              <a:sym typeface="Arial"/>
            </a:endParaRPr>
          </a:p>
          <a:p>
            <a:pPr indent="0" lvl="0" marL="0" rtl="0" algn="l">
              <a:spcBef>
                <a:spcPts val="0"/>
              </a:spcBef>
              <a:spcAft>
                <a:spcPts val="0"/>
              </a:spcAft>
              <a:buNone/>
            </a:pPr>
            <a:r>
              <a:rPr lang="en-GB" sz="4000">
                <a:latin typeface="Play"/>
                <a:ea typeface="Play"/>
                <a:cs typeface="Play"/>
                <a:sym typeface="Play"/>
              </a:rPr>
              <a:t>Performance Dashboard</a:t>
            </a:r>
            <a:endParaRPr sz="3000"/>
          </a:p>
        </p:txBody>
      </p:sp>
      <p:sp>
        <p:nvSpPr>
          <p:cNvPr id="599" name="Google Shape;599;p34"/>
          <p:cNvSpPr txBox="1"/>
          <p:nvPr>
            <p:ph idx="1" type="subTitle"/>
          </p:nvPr>
        </p:nvSpPr>
        <p:spPr>
          <a:xfrm>
            <a:off x="1248450" y="2866900"/>
            <a:ext cx="4255500" cy="6954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GB" sz="1800">
                <a:solidFill>
                  <a:srgbClr val="C7D1E0"/>
                </a:solidFill>
                <a:latin typeface="Arial"/>
                <a:ea typeface="Arial"/>
                <a:cs typeface="Arial"/>
                <a:sym typeface="Arial"/>
              </a:rPr>
              <a:t>Looker Studio dashboard built with SQL-transformed GA4 BigQuery ecommerce data.</a:t>
            </a:r>
            <a:endParaRPr/>
          </a:p>
        </p:txBody>
      </p:sp>
      <p:sp>
        <p:nvSpPr>
          <p:cNvPr id="600" name="Google Shape;600;p34"/>
          <p:cNvSpPr txBox="1"/>
          <p:nvPr>
            <p:ph idx="1" type="subTitle"/>
          </p:nvPr>
        </p:nvSpPr>
        <p:spPr>
          <a:xfrm>
            <a:off x="3466650" y="3633613"/>
            <a:ext cx="2527200" cy="6954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n-GB" sz="3750"/>
              <a:t>Günışığı Aydoğan</a:t>
            </a:r>
            <a:endParaRPr sz="3750"/>
          </a:p>
          <a:p>
            <a:pPr indent="0" lvl="0" marL="0" rtl="0" algn="l">
              <a:spcBef>
                <a:spcPts val="0"/>
              </a:spcBef>
              <a:spcAft>
                <a:spcPts val="0"/>
              </a:spcAft>
              <a:buNone/>
            </a:pPr>
            <a:r>
              <a:t/>
            </a:r>
            <a:endParaRPr b="1" sz="3000">
              <a:latin typeface="Maven Pro"/>
              <a:ea typeface="Maven Pro"/>
              <a:cs typeface="Maven Pro"/>
              <a:sym typeface="Maven Pro"/>
            </a:endParaRPr>
          </a:p>
          <a:p>
            <a:pPr indent="0" lvl="0" marL="0" rtl="0" algn="l">
              <a:spcBef>
                <a:spcPts val="0"/>
              </a:spcBef>
              <a:spcAft>
                <a:spcPts val="0"/>
              </a:spcAft>
              <a:buNone/>
            </a:pPr>
            <a:r>
              <a:t/>
            </a:r>
            <a:endParaRPr/>
          </a:p>
        </p:txBody>
      </p:sp>
      <p:sp>
        <p:nvSpPr>
          <p:cNvPr id="601" name="Google Shape;601;p34"/>
          <p:cNvSpPr txBox="1"/>
          <p:nvPr>
            <p:ph type="ctrTitle"/>
          </p:nvPr>
        </p:nvSpPr>
        <p:spPr>
          <a:xfrm>
            <a:off x="225450" y="1615213"/>
            <a:ext cx="5278500" cy="695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3000"/>
              <a:t>Graduation Project for GoIT</a:t>
            </a:r>
            <a:endParaRPr sz="3000"/>
          </a:p>
        </p:txBody>
      </p:sp>
      <p:sp>
        <p:nvSpPr>
          <p:cNvPr id="602" name="Google Shape;602;p34"/>
          <p:cNvSpPr txBox="1"/>
          <p:nvPr>
            <p:ph idx="1" type="subTitle"/>
          </p:nvPr>
        </p:nvSpPr>
        <p:spPr>
          <a:xfrm>
            <a:off x="367825" y="4400325"/>
            <a:ext cx="4255500" cy="562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950">
                <a:solidFill>
                  <a:srgbClr val="B5C2D3"/>
                </a:solidFill>
                <a:latin typeface="Arial"/>
                <a:ea typeface="Arial"/>
                <a:cs typeface="Arial"/>
                <a:sym typeface="Arial"/>
              </a:rPr>
              <a:t>BigQuery  →  SQL Views  →  Looker Studio</a:t>
            </a:r>
            <a:endParaRPr sz="95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C7D1E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